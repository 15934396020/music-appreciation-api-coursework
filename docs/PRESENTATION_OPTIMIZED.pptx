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24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XJCO3011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  <a:latin typeface="Calibri"/>
              </a:rPr>
              <a:t>Web Services and Web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Zeyu Shen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April 2026   ·   Coursework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24A71"/>
                </a:solidFill>
                <a:latin typeface="Calibri"/>
              </a:rPr>
              <a:t>Music Appreciation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3172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24A71"/>
                </a:solidFill>
                <a:latin typeface="Calibri"/>
              </a:rPr>
              <a:t>&amp; Discovery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2900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2525B"/>
                </a:solidFill>
                <a:latin typeface="Calibri"/>
              </a:rPr>
              <a:t>A database-backed RESTful web service for catalogue browsing, review CRUD, tagging, collections and analytics.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4206240"/>
            <a:ext cx="7132320" cy="1828800"/>
          </a:xfrm>
          <a:prstGeom prst="rect">
            <a:avLst/>
          </a:prstGeom>
          <a:solidFill>
            <a:srgbClr val="F4F4F5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420624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34340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4A71"/>
                </a:solidFill>
                <a:latin typeface="Calibri"/>
              </a:rPr>
              <a:t>Submission Links (Coursework Brief §7a)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709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2525B"/>
                </a:solidFill>
                <a:latin typeface="Calibri"/>
              </a:rPr>
              <a:t>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9377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369A1"/>
                </a:solidFill>
                <a:latin typeface="Consolas"/>
              </a:rPr>
              <a:t>https://github.com/15934396020/music-appreciation-api-coursework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5257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2525B"/>
                </a:solidFill>
                <a:latin typeface="Calibri"/>
              </a:rPr>
              <a:t>Live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4864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369A1"/>
                </a:solidFill>
                <a:latin typeface="Consolas"/>
              </a:rPr>
              <a:t>https://weidademiaoxiao.pythonanywhere.com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76072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2525B"/>
                </a:solidFill>
                <a:latin typeface="Calibri"/>
              </a:rPr>
              <a:t>API Documentation → docs/API_DOCUMENTATION.pdf   ·   Technical Report → docs/TECHNICAL_REPORT.pdf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Why we need a structured backend for music appreciation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577840" cy="4572000"/>
          </a:xfrm>
          <a:prstGeom prst="rect">
            <a:avLst/>
          </a:prstGeom>
          <a:solidFill>
            <a:srgbClr val="F4F4F5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57784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8181B"/>
                </a:solidFill>
                <a:latin typeface="Calibri"/>
              </a:rPr>
              <a:t>Music enthusiasts lack a structured backend to catalogue listening experiences, tag tracks by mood, and share meaningful reviews in one coherent ecosystem. Existing consumer apps focus on playback; they rarely expose a clean API for user-generated appreciation data.
Design philosophy:  deliberate scope control — prioritise stability, testability and explainability over maximum complexity.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5577840" cy="4572000"/>
          </a:xfrm>
          <a:prstGeom prst="rect">
            <a:avLst/>
          </a:prstGeom>
          <a:solidFill>
            <a:srgbClr val="F4F4F5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557784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3317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300">
                <a:solidFill>
                  <a:srgbClr val="024A71"/>
                </a:solidFill>
              </a:rPr>
              <a:t>Structured browsing
</a:t>
            </a:r>
            <a:r>
              <a:rPr sz="1200">
                <a:solidFill>
                  <a:srgbClr val="18181B"/>
                </a:solidFill>
              </a:rPr>
              <a:t>Filtering, sorting and pagination across 29 tracks / 8 genres.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300">
                <a:solidFill>
                  <a:srgbClr val="024A71"/>
                </a:solidFill>
              </a:rPr>
              <a:t>Review management (CRUD)
</a:t>
            </a:r>
            <a:r>
              <a:rPr sz="1200">
                <a:solidFill>
                  <a:srgbClr val="18181B"/>
                </a:solidFill>
              </a:rPr>
              <a:t>Full lifecycle with automatic recalculation of average ratings.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300">
                <a:solidFill>
                  <a:srgbClr val="024A71"/>
                </a:solidFill>
              </a:rPr>
              <a:t>User interaction
</a:t>
            </a:r>
            <a:r>
              <a:rPr sz="1200">
                <a:solidFill>
                  <a:srgbClr val="18181B"/>
                </a:solidFill>
              </a:rPr>
              <a:t>User-defined tagging and personal collection building.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300">
                <a:solidFill>
                  <a:srgbClr val="024A71"/>
                </a:solidFill>
              </a:rPr>
              <a:t>Analytical insights
</a:t>
            </a:r>
            <a:r>
              <a:rPr sz="1200">
                <a:solidFill>
                  <a:srgbClr val="18181B"/>
                </a:solidFill>
              </a:rPr>
              <a:t>5 dedicated endpoints built on advanced SQL aggregation.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Architecture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FastAPI + SQLAlchemy + SQLite — clean, modular, and examiner-friendly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7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67"/>
                <a:gridCol w="2933334"/>
                <a:gridCol w="6141669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Justification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Routing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FastAPI 0.115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Auto OpenAPI docs, type hints, high async performance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API key (X-API-Key)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Lightweight protection for all write operations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Pydantic 2.11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Strict payload validation with structured errors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ORM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SQLAlchemy 2.0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Expressive aggregation queries without raw SQL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Zero-configuration, reproducible for examiners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pytest + httpx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55 tests in 9 classes, full suite runs &lt; 1 second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PythonAnywhere (ASGI)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Externally hosted, publicly reachable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Six entities, normalised schema, rich relational querying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7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67"/>
                <a:gridCol w="4125001"/>
                <a:gridCol w="4950002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Key fields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Relationships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Genre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name, description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One-to-many → Track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Track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title, artist, album, mood, avg_rating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Belongs to Genre; has Reviews, Tags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reviewer, rating (1–5), comment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Belongs to Track; triggers rating recalc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UserTag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tag_name, created_by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Unique per (track, tag_name)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Collection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name, description, created_by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Contains CollectionItems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CollectionItem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track_id, note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Links Track to Collection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2525B"/>
                </a:solidFill>
                <a:latin typeface="Calibri"/>
              </a:rPr>
              <a:t>Referential integrity is enforced via SQLAlchemy relationships; cascading updates keep Track.avg_rating consistent whenever a review is created, updated or deleted.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API Endpoints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25 endpoints across 7 groups — protected write operations, public reads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/>
                <a:gridCol w="822960"/>
                <a:gridCol w="6400800"/>
                <a:gridCol w="2039111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Representative endpoints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General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GET /,  GET /health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Genres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GET /genres,  GET /genres/{id}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Tracks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GET /tracks  (filter, sort, paginate),  GET /tracks/{id}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Reviews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Full CRUD: POST / GET / PUT / DELETE + listing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Write → API key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Tags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POST / GET / DELETE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Write → API key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Collections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POST / GET / GET item / POST item / DELETE / DELETE item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Write → API key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top-rated, genre-summary, top-tags, mood-dist, activity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2525B"/>
                </a:solidFill>
                <a:latin typeface="Calibri"/>
              </a:rPr>
              <a:t>Full reference with request/response examples: docs/API_DOCUMENTATION.pdf (hosted in the GitHub repository).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CRUD Demo — Review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Full review CRUD with automatic rating recalculation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22402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POST /reviews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1206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Creates a new review for a given track.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Validated by Pydantic (rating 1–5, non-empty comment).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Returns 201 Created with the stored resource.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Triggers recalculation of track.avg_rating.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73152" cy="224028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GET /reviews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51206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Filter by track_id, reviewer, min_rating.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Partial name matching using SQL ilike().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Offset-based pagination via ?skip= &amp; ?limit=.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Returns a paged list plus total count.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5486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73152" cy="2240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PUT /reviews/{id}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51206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Partial update (PATCH-like semantics).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Requires a valid X-API-Key header.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Automatically refreshes track.avg_rating.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Returns 200 OK with the updated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23360"/>
            <a:ext cx="5486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023360"/>
            <a:ext cx="73152" cy="2240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6052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DELETE /reviews/{id}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1206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Removes the review from the database.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Requires a valid X-API-Key header.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Returns 204 No Content on success.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Track rating is recomputed over remaining reviews.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Analytics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Five aggregation endpoints — added value beyond basic CRUD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7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474720"/>
                <a:gridCol w="3685032"/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SQL features used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/analytics/top-rated-tracks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func.avg, func.count, HAVING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Ranked tracks with review counts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/analytics/genre-summary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func.count, func.avg, OUTER JOIN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Track count and mean rating per genre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/analytics/top-tags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func.count, GROUP BY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Most-frequently used tags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/analytics/mood-distribution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func.count, GROUP BY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Track count per mood category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/analytics/review-activity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func.count, func.avg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Per-reviewer stats and totals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525B"/>
                </a:solidFill>
                <a:latin typeface="Calibri"/>
              </a:rPr>
              <a:t>These endpoints demonstrate advanced use of SQLAlchemy's expression language (joins, aggregates and grouping) while keeping the service fully REST-compatible and JSON-first. They deliver dashboard-ready insights without exposing raw SQL.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55 automated tests across 9 classes — all passing in under a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498077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79"/>
                <a:gridCol w="914399"/>
                <a:gridCol w="3657599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Test class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Coverage area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TestGeneralEndpoints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Root and health endpoints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TestGenreEndpoints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Genre listing and lookup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TestTrackEndpoints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Browsing, filtering, pagination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TestReviewCRUD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Full lifecycle plus error cases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TestTagEndpoints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Tag CRUD plus duplicate handling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TestCollectionEndpoints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Collection management and items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TestAnalyticsEndpoints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All five analytics endpoints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TestAuthentication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API-key validation (401, 403)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TestValidation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8181B"/>
                          </a:solidFill>
                          <a:latin typeface="Calibri"/>
                        </a:rPr>
                        <a:t>Input edge cases and structured errors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1600200"/>
            <a:ext cx="3319272" cy="4663440"/>
          </a:xfrm>
          <a:prstGeom prst="rect">
            <a:avLst/>
          </a:prstGeom>
          <a:solidFill>
            <a:srgbClr val="F4F4F5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600200"/>
            <a:ext cx="3319272" cy="4572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673352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Suite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  <a:latin typeface="Calibri"/>
              </a:rP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743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alibri"/>
              </a:rPr>
              <a:t>tests 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200400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369A1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0332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alibri"/>
              </a:rPr>
              <a:t>test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160520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Calibri"/>
              </a:rPr>
              <a:t>&lt; 1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66344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alibri"/>
              </a:rPr>
              <a:t>full-suite run-time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5120640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100 %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62356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alibri"/>
              </a:rPr>
              <a:t>endpoint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Version Control &amp; Commit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Dedicated section required by the Coursework Brief §7a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754880" cy="4663440"/>
          </a:xfrm>
          <a:prstGeom prst="rect">
            <a:avLst/>
          </a:prstGeom>
          <a:solidFill>
            <a:srgbClr val="F4F4F5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466344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4A71"/>
                </a:solidFill>
                <a:latin typeface="Calibri"/>
              </a:rPr>
              <a:t>Public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369A1"/>
                </a:solidFill>
                <a:latin typeface="Consolas"/>
              </a:rPr>
              <a:t>https://github.com/15934396020/music-appreciation-api-coursework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43891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24A71"/>
                </a:solidFill>
              </a:rPr>
              <a:t>Workflow  </a:t>
            </a:r>
            <a:r>
              <a:rPr sz="1150">
                <a:solidFill>
                  <a:srgbClr val="18181B"/>
                </a:solidFill>
              </a:rPr>
              <a:t>Trunk-based development on `main`, with conventional commit messages (`feat:`, `docs:`, `fix:`).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24A71"/>
                </a:solidFill>
              </a:rPr>
              <a:t>Granularity  </a:t>
            </a:r>
            <a:r>
              <a:rPr sz="1150">
                <a:solidFill>
                  <a:srgbClr val="18181B"/>
                </a:solidFill>
              </a:rPr>
              <a:t>Each commit scopes one concern — models, routes, tests, documentation — for easy review.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24A71"/>
                </a:solidFill>
              </a:rPr>
              <a:t>Traceability  </a:t>
            </a:r>
            <a:r>
              <a:rPr sz="1150">
                <a:solidFill>
                  <a:srgbClr val="18181B"/>
                </a:solidFill>
              </a:rPr>
              <a:t>Session-based commits map 1-to-1 to handover documents in `handover/`, creating a verifiable audit trail.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24A71"/>
                </a:solidFill>
              </a:rPr>
              <a:t>Hygiene  </a:t>
            </a:r>
            <a:r>
              <a:rPr sz="1150">
                <a:solidFill>
                  <a:srgbClr val="18181B"/>
                </a:solidFill>
              </a:rPr>
              <a:t>`.gitignore` excludes build artefacts, virtualenv, SQLite database files and IDE metadata.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00200"/>
            <a:ext cx="6153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4A71"/>
                </a:solidFill>
                <a:latin typeface="Calibri"/>
              </a:rPr>
              <a:t>Milestone commits on `main`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0" y="1965960"/>
          <a:ext cx="6153911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79"/>
                <a:gridCol w="5056632"/>
              </a:tblGrid>
              <a:tr h="382385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SHA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Session / theme</a:t>
                      </a:r>
                    </a:p>
                  </a:txBody>
                  <a:tcPr marL="91440" marR="91440" marT="45720" marB="45720">
                    <a:solidFill>
                      <a:srgbClr val="0369A1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ef6698f8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Session 5: Final polish — LaTeX docs, optimised PPTX, Q&amp;A, checklist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53869214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Complete PythonAnywhere deployment and refresh deliverables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1fe51f09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Session 3 final: update handover with deployment priority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b02e6f66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Session 3: API-key authentication, structured errors, PPTX, GenAI log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6f1ba4cf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docs: redesign Technical Report and API Documentation (LaTeX)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6412bd12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docs: add LaTeX report, rewrite handover instructions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984b64bc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feat: complete coursework deliverables (tests, PDFs, slides)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3542f23d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feat: complete API implementation, tests, docs, presentation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fcc56f5f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Add README for Multi-Account Handover Protocol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622f72c6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8181B"/>
                          </a:solidFill>
                          <a:latin typeface="Calibri"/>
                        </a:rPr>
                        <a:t>Initialize models module with entities import</a:t>
                      </a:r>
                    </a:p>
                  </a:txBody>
                  <a:tcPr marL="91440" marR="91440" marT="36576" marB="36576"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Deliverables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API documentation overview + Technical report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6118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237744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Code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246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Public GitHub, 30+ commits on main.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README with setup + overview.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Runnable FastAPI app and full test suite.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https://github.com/15934396020/music-appreciation-api-coursework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600200"/>
            <a:ext cx="36118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00200"/>
            <a:ext cx="73152" cy="2377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37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API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246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Swagger UI + ReDoc at /docs, /redoc.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LaTeX-generated PDF reference.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Endpoints, parameters, JSON samples, errors.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docs/API_DOCUMENTATION.pdf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00200"/>
            <a:ext cx="36118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600200"/>
            <a:ext cx="73152" cy="2377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737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Technical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103120"/>
            <a:ext cx="3246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5-page LaTeX PDF, professionally typeset.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Stack justification, architecture, testing.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Limitations, future work, GenAI appendix.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docs/TECHNICAL_REPORT.pdf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11091672" cy="1783080"/>
          </a:xfrm>
          <a:prstGeom prst="rect">
            <a:avLst/>
          </a:prstGeom>
          <a:solidFill>
            <a:srgbClr val="F4F4F5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73152" cy="178308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4A71"/>
                </a:solidFill>
                <a:latin typeface="Calibri"/>
              </a:rPr>
              <a:t>Technical Report highlights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• Chose FastAPI for type-hint-driven OpenAPI generation and async support.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• Adopted SQLAlchemy 2.0 + SQLite for reproducibility without sacrificing query expressiveness.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• API-key auth cleanly separates public reads from protected writes; structured JSON errors across the whole surface.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• GenAI declaration documents every use (planning, code generation, test expansion, documentation drafting).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24A71"/>
                </a:solidFill>
                <a:latin typeface="Calibri"/>
              </a:rPr>
              <a:t>Conclusion,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25B"/>
                </a:solidFill>
                <a:latin typeface="Calibri"/>
              </a:rPr>
              <a:t>What the project delivers today — and where it can go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3931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2461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Clean modular FastAPI architecture.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25 endpoints, full CRUD + 5 analytics.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API-key auth for all writes.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Structured JSON error handling.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55 automated tests, 100 % passing.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Externally deployed on PythonAnywhere.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60020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00200"/>
            <a:ext cx="73152" cy="3931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37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2461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Single shared API key (demo scope).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SQLite is prototype-grade, not production.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Seed data is static; no external sync yet.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No request rate limiting.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No frontend / visualisation layer.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0020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600200"/>
            <a:ext cx="73152" cy="393192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737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4A71"/>
                </a:solidFill>
                <a:latin typeface="Calibri"/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103120"/>
            <a:ext cx="32461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OAuth2 / JWT with per-user ownership.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Migrate to PostgreSQL behind Docker.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Pull live metadata from Spotify / MusicBrainz.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Add rate limiting and observability.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18181B"/>
                </a:solidFill>
                <a:latin typeface="Calibri"/>
              </a:rPr>
              <a:t>Build a lightweight React dashboard.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15000"/>
            <a:ext cx="11091672" cy="685800"/>
          </a:xfrm>
          <a:prstGeom prst="rect">
            <a:avLst/>
          </a:prstGeom>
          <a:solidFill>
            <a:srgbClr val="024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9904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onsolas"/>
              </a:rPr>
              <a:t>https://github.com/15934396020/music-appreciation-api-coursework   ·   https://weidademiaoxiao.pythonanywhere.com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66560"/>
            <a:ext cx="12191695" cy="12700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alibri"/>
              </a:rPr>
              <a:t>Music Appreciation &amp; Discovery API   |   https://github.com/15934396020/music-appreciation-api-coursework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25B"/>
                </a:solidFill>
                <a:latin typeface="Calibri"/>
              </a:rPr>
              <a:t>Slide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