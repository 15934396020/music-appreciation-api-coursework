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image" Target="../media/image-6-10.png"/><Relationship Id="rId11" Type="http://schemas.openxmlformats.org/officeDocument/2006/relationships/image" Target="../media/image-6-11.png"/><Relationship Id="rId12" Type="http://schemas.openxmlformats.org/officeDocument/2006/relationships/image" Target="../media/image-6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12526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~/xjco3011/coursework1/presentation</a:t>
            </a:r>
            <a:endParaRPr lang="en-US" sz="727" dirty="0"/>
          </a:p>
        </p:txBody>
      </p:sp>
      <p:sp>
        <p:nvSpPr>
          <p:cNvPr id="6" name="Text 3"/>
          <p:cNvSpPr/>
          <p:nvPr/>
        </p:nvSpPr>
        <p:spPr>
          <a:xfrm>
            <a:off x="428625" y="857250"/>
            <a:ext cx="3707606" cy="138867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3600"/>
              </a:lnSpc>
              <a:buNone/>
            </a:pPr>
            <a:r>
              <a:rPr lang="en-US" sz="275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</a:t>
            </a:r>
            <a:r>
              <a:rPr lang="en-US" sz="275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275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Appreciation</a:t>
            </a:r>
            <a:r>
              <a:rPr lang="en-US" sz="275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275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&amp; Discovery API</a:t>
            </a:r>
            <a:endParaRPr lang="en-US" sz="2755" dirty="0"/>
          </a:p>
        </p:txBody>
      </p:sp>
      <p:sp>
        <p:nvSpPr>
          <p:cNvPr id="7" name="Text 4"/>
          <p:cNvSpPr/>
          <p:nvPr/>
        </p:nvSpPr>
        <p:spPr>
          <a:xfrm>
            <a:off x="428625" y="2460241"/>
            <a:ext cx="3707606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269" dirty="0">
                <a:solidFill>
                  <a:srgbClr val="8B94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XJCO3011 — Web Services and Web Data</a:t>
            </a:r>
            <a:r>
              <a:rPr lang="en-US" sz="1269" dirty="0">
                <a:solidFill>
                  <a:srgbClr val="8B94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1269" dirty="0">
                <a:solidFill>
                  <a:srgbClr val="8B94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Coursework 1</a:t>
            </a:r>
            <a:endParaRPr lang="en-US" sz="1269" dirty="0"/>
          </a:p>
        </p:txBody>
      </p:sp>
      <p:sp>
        <p:nvSpPr>
          <p:cNvPr id="8" name="Text 5"/>
          <p:cNvSpPr/>
          <p:nvPr/>
        </p:nvSpPr>
        <p:spPr>
          <a:xfrm>
            <a:off x="428625" y="3993356"/>
            <a:ext cx="370760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</a:t>
            </a:r>
            <a:r>
              <a:rPr lang="en-US" sz="834" dirty="0">
                <a:solidFill>
                  <a:srgbClr val="8B949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./start_presentation.sh</a:t>
            </a:r>
            <a:endParaRPr lang="en-US" sz="834" dirty="0"/>
          </a:p>
        </p:txBody>
      </p:sp>
      <p:sp>
        <p:nvSpPr>
          <p:cNvPr id="9" name="Shape 6"/>
          <p:cNvSpPr/>
          <p:nvPr/>
        </p:nvSpPr>
        <p:spPr>
          <a:xfrm>
            <a:off x="4572000" y="285750"/>
            <a:ext cx="4572000" cy="4429125"/>
          </a:xfrm>
          <a:prstGeom prst="rect">
            <a:avLst/>
          </a:prstGeom>
          <a:solidFill>
            <a:srgbClr val="0D1117"/>
          </a:solidFill>
          <a:ln/>
        </p:spPr>
      </p:sp>
      <p:sp>
        <p:nvSpPr>
          <p:cNvPr id="10" name="Shape 7"/>
          <p:cNvSpPr/>
          <p:nvPr/>
        </p:nvSpPr>
        <p:spPr>
          <a:xfrm>
            <a:off x="5000625" y="864394"/>
            <a:ext cx="3714750" cy="3271838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000625" y="864394"/>
            <a:ext cx="3714750" cy="3271838"/>
          </a:xfrm>
          <a:prstGeom prst="rect">
            <a:avLst/>
          </a:prstGeom>
          <a:noFill/>
          <a:ln/>
        </p:spPr>
        <p:txBody>
          <a:bodyPr wrap="square" lIns="255143" tIns="255143" rIns="255143" bIns="255143" rtlCol="0" anchor="t">
            <a:spAutoFit/>
          </a:bodyPr>
          <a:lstStyle/>
          <a:p>
            <a:pPr algn="l" indent="0" marL="0">
              <a:lnSpc>
                <a:spcPts val="2000"/>
              </a:lnSpc>
              <a:buNone/>
            </a:pPr>
            <a:r>
              <a:rPr lang="en-US" sz="1050" i="1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System Status Overview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const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projectMetrics = {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"api_endpoints"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1050" dirty="0">
                <a:solidFill>
                  <a:srgbClr val="79C0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25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"automated_tests"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1050" dirty="0">
                <a:solidFill>
                  <a:srgbClr val="79C0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55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"database_entities"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1050" dirty="0">
                <a:solidFill>
                  <a:srgbClr val="79C0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6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"test_coverage"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"100%"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"deployment"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{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"status"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"Live"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"platform"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"PythonAnywhere"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}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1050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};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0" y="4714875"/>
            <a:ext cx="9144000" cy="428625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13" name="Shape 10"/>
          <p:cNvSpPr/>
          <p:nvPr/>
        </p:nvSpPr>
        <p:spPr>
          <a:xfrm>
            <a:off x="0" y="4714875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4872038"/>
            <a:ext cx="114300" cy="11430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57200" y="4854178"/>
            <a:ext cx="47505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FastAPI</a:t>
            </a:r>
            <a:endParaRPr lang="en-US" sz="834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5134" y="4872038"/>
            <a:ext cx="100013" cy="1143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232297" y="4854178"/>
            <a:ext cx="128944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SQLAlchemy + SQLite</a:t>
            </a:r>
            <a:endParaRPr lang="en-US" sz="834" dirty="0"/>
          </a:p>
        </p:txBody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64619" y="4872038"/>
            <a:ext cx="114300" cy="11430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2836069" y="4854178"/>
            <a:ext cx="5429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Pydantic</a:t>
            </a:r>
            <a:endParaRPr lang="en-US" sz="834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1869" y="4872038"/>
            <a:ext cx="114300" cy="11430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3693319" y="4854178"/>
            <a:ext cx="4071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pytest</a:t>
            </a:r>
            <a:endParaRPr lang="en-US" sz="834" dirty="0"/>
          </a:p>
        </p:txBody>
      </p:sp>
      <p:sp>
        <p:nvSpPr>
          <p:cNvPr id="22" name="Text 15"/>
          <p:cNvSpPr/>
          <p:nvPr/>
        </p:nvSpPr>
        <p:spPr>
          <a:xfrm>
            <a:off x="8179594" y="4854178"/>
            <a:ext cx="6786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2026-04-17</a:t>
            </a:r>
            <a:endParaRPr lang="en-US" sz="834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5503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~/xjco3011/coursework1/problem_solution.md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81081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89422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71500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Problem &amp; Solution</a:t>
            </a:r>
            <a:endParaRPr lang="en-US" sz="201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259086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925" y="1232297"/>
            <a:ext cx="1139428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The Problem</a:t>
            </a:r>
            <a:endParaRPr lang="en-US" sz="1269" dirty="0"/>
          </a:p>
        </p:txBody>
      </p:sp>
      <p:sp>
        <p:nvSpPr>
          <p:cNvPr id="11" name="Text 7"/>
          <p:cNvSpPr/>
          <p:nvPr/>
        </p:nvSpPr>
        <p:spPr>
          <a:xfrm>
            <a:off x="285750" y="1543050"/>
            <a:ext cx="30789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Music enthusiasts lack a structured backend to catalogue listening experiences, tag tracks by mood, and share meaningful reviews in a unified ecosystem.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285750" y="2886075"/>
            <a:ext cx="3078956" cy="1319361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13" name="Shape 9"/>
          <p:cNvSpPr/>
          <p:nvPr/>
        </p:nvSpPr>
        <p:spPr>
          <a:xfrm>
            <a:off x="285750" y="2886075"/>
            <a:ext cx="3078956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14" name="Shape 10"/>
          <p:cNvSpPr/>
          <p:nvPr/>
        </p:nvSpPr>
        <p:spPr>
          <a:xfrm>
            <a:off x="3357563" y="2886075"/>
            <a:ext cx="7144" cy="1319361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15" name="Shape 11"/>
          <p:cNvSpPr/>
          <p:nvPr/>
        </p:nvSpPr>
        <p:spPr>
          <a:xfrm>
            <a:off x="285750" y="4198293"/>
            <a:ext cx="3078956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16" name="Shape 12"/>
          <p:cNvSpPr/>
          <p:nvPr/>
        </p:nvSpPr>
        <p:spPr>
          <a:xfrm>
            <a:off x="285750" y="2886075"/>
            <a:ext cx="21431" cy="1319361"/>
          </a:xfrm>
          <a:prstGeom prst="rect">
            <a:avLst/>
          </a:prstGeom>
          <a:solidFill>
            <a:srgbClr val="D2A8FF"/>
          </a:solidFill>
          <a:ln/>
        </p:spPr>
      </p:sp>
      <p:sp>
        <p:nvSpPr>
          <p:cNvPr id="17" name="Text 13"/>
          <p:cNvSpPr/>
          <p:nvPr/>
        </p:nvSpPr>
        <p:spPr>
          <a:xfrm>
            <a:off x="400050" y="3000375"/>
            <a:ext cx="2850356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Design Philosophy</a:t>
            </a:r>
            <a:endParaRPr lang="en-US" sz="942" dirty="0"/>
          </a:p>
        </p:txBody>
      </p:sp>
      <p:sp>
        <p:nvSpPr>
          <p:cNvPr id="18" name="Text 14"/>
          <p:cNvSpPr/>
          <p:nvPr/>
        </p:nvSpPr>
        <p:spPr>
          <a:xfrm>
            <a:off x="400050" y="3253978"/>
            <a:ext cx="2850356" cy="82287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885" b="1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Deliberate scope control: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Prioritise stability, 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testability, and explainability over maximum 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complexity. Focus on doing the core features 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exceptionally well.</a:t>
            </a:r>
            <a:endParaRPr lang="en-US" sz="942" dirty="0"/>
          </a:p>
        </p:txBody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43350" y="1259086"/>
            <a:ext cx="128588" cy="17145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157663" y="1232297"/>
            <a:ext cx="1243013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The Solution</a:t>
            </a:r>
            <a:endParaRPr lang="en-US" sz="1269" dirty="0"/>
          </a:p>
        </p:txBody>
      </p:sp>
      <p:sp>
        <p:nvSpPr>
          <p:cNvPr id="21" name="Text 16"/>
          <p:cNvSpPr/>
          <p:nvPr/>
        </p:nvSpPr>
        <p:spPr>
          <a:xfrm>
            <a:off x="3943350" y="1543050"/>
            <a:ext cx="4914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database-backed RESTful API providing a comprehensive suite of features for music appreciation:</a:t>
            </a:r>
            <a:endParaRPr lang="en-US" sz="1050" dirty="0"/>
          </a:p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3350" y="2243138"/>
            <a:ext cx="142875" cy="14287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200525" y="2214563"/>
            <a:ext cx="4186238" cy="3893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Structured Browsing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filtering, sorting, and pagination across tracks and genres.</a:t>
            </a:r>
            <a:endParaRPr lang="en-US" sz="942" dirty="0"/>
          </a:p>
        </p:txBody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43350" y="2718197"/>
            <a:ext cx="160734" cy="142875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218384" y="2689622"/>
            <a:ext cx="4545211" cy="3893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Review Management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CRUD operations with automatic recalculation of track average ratings.</a:t>
            </a:r>
            <a:endParaRPr lang="en-US" sz="942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943350" y="3193256"/>
            <a:ext cx="142875" cy="142875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200525" y="3164681"/>
            <a:ext cx="4014788" cy="3893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User Interaction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User-defined tagging and personal collection building capabilities.</a:t>
            </a:r>
            <a:endParaRPr lang="en-US" sz="942" dirty="0"/>
          </a:p>
        </p:txBody>
      </p:sp>
      <p:pic>
        <p:nvPicPr>
          <p:cNvPr id="2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943350" y="3668316"/>
            <a:ext cx="142875" cy="142875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200525" y="3639741"/>
            <a:ext cx="3743325" cy="38933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Analytical Insights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
</a:t>
            </a: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dedicated endpoints leveraging advanced SQL aggregation.</a:t>
            </a:r>
            <a:endParaRPr lang="en-US" sz="942" dirty="0"/>
          </a:p>
        </p:txBody>
      </p:sp>
      <p:sp>
        <p:nvSpPr>
          <p:cNvPr id="30" name="Shape 21"/>
          <p:cNvSpPr/>
          <p:nvPr/>
        </p:nvSpPr>
        <p:spPr>
          <a:xfrm>
            <a:off x="0" y="485775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31" name="Shape 22"/>
          <p:cNvSpPr/>
          <p:nvPr/>
        </p:nvSpPr>
        <p:spPr>
          <a:xfrm>
            <a:off x="0" y="4857750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32" name="Text 23"/>
          <p:cNvSpPr/>
          <p:nvPr/>
        </p:nvSpPr>
        <p:spPr>
          <a:xfrm>
            <a:off x="285750" y="4935438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33" name="Text 24"/>
          <p:cNvSpPr/>
          <p:nvPr/>
        </p:nvSpPr>
        <p:spPr>
          <a:xfrm>
            <a:off x="8129588" y="4935438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2 / 10</a:t>
            </a:r>
            <a:endParaRPr lang="en-US" sz="727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9350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3074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~/xjco3011/coursework1/tech_stack.json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81081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89422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71500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Architecture &amp; Technology Stack</a:t>
            </a:r>
            <a:endParaRPr lang="en-US" sz="2016" dirty="0"/>
          </a:p>
        </p:txBody>
      </p:sp>
      <p:sp>
        <p:nvSpPr>
          <p:cNvPr id="9" name="Text 6"/>
          <p:cNvSpPr/>
          <p:nvPr/>
        </p:nvSpPr>
        <p:spPr>
          <a:xfrm>
            <a:off x="428625" y="1375172"/>
            <a:ext cx="82867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FastAPI + SQLAlchemy + SQLite delivers a clean, modular, and examiner-friendly stack.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197" y="1766292"/>
            <a:ext cx="1655899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2197" y="1766292"/>
            <a:ext cx="1655899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Layer</a:t>
            </a:r>
            <a:endParaRPr lang="en-US" sz="987" dirty="0"/>
          </a:p>
        </p:txBody>
      </p:sp>
      <p:sp>
        <p:nvSpPr>
          <p:cNvPr id="12" name="Shape 9"/>
          <p:cNvSpPr/>
          <p:nvPr/>
        </p:nvSpPr>
        <p:spPr>
          <a:xfrm>
            <a:off x="2088096" y="1766292"/>
            <a:ext cx="2069902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8096" y="1766292"/>
            <a:ext cx="2069902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Technology</a:t>
            </a:r>
            <a:endParaRPr lang="en-US" sz="987" dirty="0"/>
          </a:p>
        </p:txBody>
      </p:sp>
      <p:sp>
        <p:nvSpPr>
          <p:cNvPr id="14" name="Shape 11"/>
          <p:cNvSpPr/>
          <p:nvPr/>
        </p:nvSpPr>
        <p:spPr>
          <a:xfrm>
            <a:off x="4157997" y="1766292"/>
            <a:ext cx="4553806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157997" y="1766292"/>
            <a:ext cx="4553806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Justification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432197" y="2182416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Routing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2088096" y="2182416"/>
            <a:ext cx="206990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FastAPI 0.115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4157997" y="2182416"/>
            <a:ext cx="455380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OpenAPI docs, type hints, high performance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32197" y="2586038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432197" y="2586038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Authentication</a:t>
            </a:r>
            <a:endParaRPr lang="en-US" sz="885" dirty="0"/>
          </a:p>
        </p:txBody>
      </p:sp>
      <p:sp>
        <p:nvSpPr>
          <p:cNvPr id="21" name="Text 18"/>
          <p:cNvSpPr/>
          <p:nvPr/>
        </p:nvSpPr>
        <p:spPr>
          <a:xfrm>
            <a:off x="2088096" y="2586038"/>
            <a:ext cx="206990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API Key (X-API-Key)</a:t>
            </a:r>
            <a:endParaRPr lang="en-US" sz="942" dirty="0"/>
          </a:p>
        </p:txBody>
      </p:sp>
      <p:sp>
        <p:nvSpPr>
          <p:cNvPr id="22" name="Text 19"/>
          <p:cNvSpPr/>
          <p:nvPr/>
        </p:nvSpPr>
        <p:spPr>
          <a:xfrm>
            <a:off x="4157997" y="2586038"/>
            <a:ext cx="455380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Lightweight write-operation protection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32197" y="2989659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Validation</a:t>
            </a:r>
            <a:endParaRPr lang="en-US" sz="885" dirty="0"/>
          </a:p>
        </p:txBody>
      </p:sp>
      <p:sp>
        <p:nvSpPr>
          <p:cNvPr id="24" name="Text 21"/>
          <p:cNvSpPr/>
          <p:nvPr/>
        </p:nvSpPr>
        <p:spPr>
          <a:xfrm>
            <a:off x="2088096" y="2989659"/>
            <a:ext cx="206990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Pydantic 2.11</a:t>
            </a:r>
            <a:endParaRPr lang="en-US" sz="942" dirty="0"/>
          </a:p>
        </p:txBody>
      </p:sp>
      <p:sp>
        <p:nvSpPr>
          <p:cNvPr id="25" name="Text 22"/>
          <p:cNvSpPr/>
          <p:nvPr/>
        </p:nvSpPr>
        <p:spPr>
          <a:xfrm>
            <a:off x="4157997" y="2989659"/>
            <a:ext cx="455380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Strict payload validation with clear, structured errors</a:t>
            </a:r>
            <a:endParaRPr lang="en-US" sz="942" dirty="0"/>
          </a:p>
        </p:txBody>
      </p:sp>
      <p:sp>
        <p:nvSpPr>
          <p:cNvPr id="26" name="Shape 23"/>
          <p:cNvSpPr/>
          <p:nvPr/>
        </p:nvSpPr>
        <p:spPr>
          <a:xfrm>
            <a:off x="432197" y="3393281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432197" y="3393281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ORM</a:t>
            </a:r>
            <a:endParaRPr lang="en-US" sz="885" dirty="0"/>
          </a:p>
        </p:txBody>
      </p:sp>
      <p:sp>
        <p:nvSpPr>
          <p:cNvPr id="28" name="Text 25"/>
          <p:cNvSpPr/>
          <p:nvPr/>
        </p:nvSpPr>
        <p:spPr>
          <a:xfrm>
            <a:off x="2088096" y="3393281"/>
            <a:ext cx="206990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SQLAlchemy 2.0</a:t>
            </a:r>
            <a:endParaRPr lang="en-US" sz="942" dirty="0"/>
          </a:p>
        </p:txBody>
      </p:sp>
      <p:sp>
        <p:nvSpPr>
          <p:cNvPr id="29" name="Text 26"/>
          <p:cNvSpPr/>
          <p:nvPr/>
        </p:nvSpPr>
        <p:spPr>
          <a:xfrm>
            <a:off x="4157997" y="3393281"/>
            <a:ext cx="455380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Powerful aggregation queries without writing raw SQL</a:t>
            </a:r>
            <a:endParaRPr lang="en-US" sz="942" dirty="0"/>
          </a:p>
        </p:txBody>
      </p:sp>
      <p:sp>
        <p:nvSpPr>
          <p:cNvPr id="30" name="Text 27"/>
          <p:cNvSpPr/>
          <p:nvPr/>
        </p:nvSpPr>
        <p:spPr>
          <a:xfrm>
            <a:off x="432197" y="3796903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Database</a:t>
            </a:r>
            <a:endParaRPr lang="en-US" sz="885" dirty="0"/>
          </a:p>
        </p:txBody>
      </p:sp>
      <p:sp>
        <p:nvSpPr>
          <p:cNvPr id="31" name="Text 28"/>
          <p:cNvSpPr/>
          <p:nvPr/>
        </p:nvSpPr>
        <p:spPr>
          <a:xfrm>
            <a:off x="2088096" y="3796903"/>
            <a:ext cx="206990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SQLite</a:t>
            </a:r>
            <a:endParaRPr lang="en-US" sz="942" dirty="0"/>
          </a:p>
        </p:txBody>
      </p:sp>
      <p:sp>
        <p:nvSpPr>
          <p:cNvPr id="32" name="Text 29"/>
          <p:cNvSpPr/>
          <p:nvPr/>
        </p:nvSpPr>
        <p:spPr>
          <a:xfrm>
            <a:off x="4157997" y="3796903"/>
            <a:ext cx="455380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Zero-configuration, highly examiner-friendly for testing</a:t>
            </a:r>
            <a:endParaRPr lang="en-US" sz="942" dirty="0"/>
          </a:p>
        </p:txBody>
      </p:sp>
      <p:sp>
        <p:nvSpPr>
          <p:cNvPr id="33" name="Shape 30"/>
          <p:cNvSpPr/>
          <p:nvPr/>
        </p:nvSpPr>
        <p:spPr>
          <a:xfrm>
            <a:off x="432197" y="4200525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432197" y="4200525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Testing</a:t>
            </a:r>
            <a:endParaRPr lang="en-US" sz="885" dirty="0"/>
          </a:p>
        </p:txBody>
      </p:sp>
      <p:sp>
        <p:nvSpPr>
          <p:cNvPr id="35" name="Text 32"/>
          <p:cNvSpPr/>
          <p:nvPr/>
        </p:nvSpPr>
        <p:spPr>
          <a:xfrm>
            <a:off x="2088096" y="4200525"/>
            <a:ext cx="206990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pytest + httpx</a:t>
            </a:r>
            <a:endParaRPr lang="en-US" sz="942" dirty="0"/>
          </a:p>
        </p:txBody>
      </p:sp>
      <p:sp>
        <p:nvSpPr>
          <p:cNvPr id="36" name="Text 33"/>
          <p:cNvSpPr/>
          <p:nvPr/>
        </p:nvSpPr>
        <p:spPr>
          <a:xfrm>
            <a:off x="4157997" y="4200525"/>
            <a:ext cx="455380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Session-scoped fixtures, fast execution (&lt;1s for 55 tests)</a:t>
            </a:r>
            <a:endParaRPr lang="en-US" sz="942" dirty="0"/>
          </a:p>
        </p:txBody>
      </p:sp>
      <p:sp>
        <p:nvSpPr>
          <p:cNvPr id="37" name="Shape 34"/>
          <p:cNvSpPr/>
          <p:nvPr/>
        </p:nvSpPr>
        <p:spPr>
          <a:xfrm>
            <a:off x="0" y="4893469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38" name="Shape 35"/>
          <p:cNvSpPr/>
          <p:nvPr/>
        </p:nvSpPr>
        <p:spPr>
          <a:xfrm>
            <a:off x="0" y="4893469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39" name="Text 36"/>
          <p:cNvSpPr/>
          <p:nvPr/>
        </p:nvSpPr>
        <p:spPr>
          <a:xfrm>
            <a:off x="285750" y="4971157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40" name="Text 37"/>
          <p:cNvSpPr/>
          <p:nvPr/>
        </p:nvSpPr>
        <p:spPr>
          <a:xfrm>
            <a:off x="8129588" y="4971157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3 / 10</a:t>
            </a:r>
            <a:endParaRPr lang="en-US" sz="72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9350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55031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~/xjco3011/coursework1/database_schema.sql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81081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89422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71500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Database Design</a:t>
            </a:r>
            <a:endParaRPr lang="en-US" sz="2016" dirty="0"/>
          </a:p>
        </p:txBody>
      </p:sp>
      <p:sp>
        <p:nvSpPr>
          <p:cNvPr id="9" name="Text 6"/>
          <p:cNvSpPr/>
          <p:nvPr/>
        </p:nvSpPr>
        <p:spPr>
          <a:xfrm>
            <a:off x="428625" y="1375172"/>
            <a:ext cx="82867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entities with well-defined relationships support rich querying.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197" y="1766292"/>
            <a:ext cx="1655899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2197" y="1766292"/>
            <a:ext cx="1655899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Entity</a:t>
            </a:r>
            <a:endParaRPr lang="en-US" sz="987" dirty="0"/>
          </a:p>
        </p:txBody>
      </p:sp>
      <p:sp>
        <p:nvSpPr>
          <p:cNvPr id="12" name="Shape 9"/>
          <p:cNvSpPr/>
          <p:nvPr/>
        </p:nvSpPr>
        <p:spPr>
          <a:xfrm>
            <a:off x="2088096" y="1766292"/>
            <a:ext cx="3311826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88096" y="1766292"/>
            <a:ext cx="3311826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Key Fields</a:t>
            </a:r>
            <a:endParaRPr lang="en-US" sz="987" dirty="0"/>
          </a:p>
        </p:txBody>
      </p:sp>
      <p:sp>
        <p:nvSpPr>
          <p:cNvPr id="14" name="Shape 11"/>
          <p:cNvSpPr/>
          <p:nvPr/>
        </p:nvSpPr>
        <p:spPr>
          <a:xfrm>
            <a:off x="5399922" y="1766292"/>
            <a:ext cx="3311882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399922" y="1766292"/>
            <a:ext cx="3311882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Relationships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432197" y="2182416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Genre</a:t>
            </a:r>
            <a:endParaRPr lang="en-US" sz="885" dirty="0"/>
          </a:p>
        </p:txBody>
      </p:sp>
      <p:sp>
        <p:nvSpPr>
          <p:cNvPr id="17" name="Text 14"/>
          <p:cNvSpPr/>
          <p:nvPr/>
        </p:nvSpPr>
        <p:spPr>
          <a:xfrm>
            <a:off x="2088096" y="2182416"/>
            <a:ext cx="331182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name, description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5399922" y="2182416"/>
            <a:ext cx="331188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One-to-many → Track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32197" y="2586038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432197" y="2586038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Track</a:t>
            </a:r>
            <a:endParaRPr lang="en-US" sz="885" dirty="0"/>
          </a:p>
        </p:txBody>
      </p:sp>
      <p:sp>
        <p:nvSpPr>
          <p:cNvPr id="21" name="Text 18"/>
          <p:cNvSpPr/>
          <p:nvPr/>
        </p:nvSpPr>
        <p:spPr>
          <a:xfrm>
            <a:off x="2088096" y="2586038"/>
            <a:ext cx="331182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title, artist, album, mood, avg_rating</a:t>
            </a:r>
            <a:endParaRPr lang="en-US" sz="942" dirty="0"/>
          </a:p>
        </p:txBody>
      </p:sp>
      <p:sp>
        <p:nvSpPr>
          <p:cNvPr id="22" name="Text 19"/>
          <p:cNvSpPr/>
          <p:nvPr/>
        </p:nvSpPr>
        <p:spPr>
          <a:xfrm>
            <a:off x="5399922" y="2586038"/>
            <a:ext cx="331188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Belongs to Genre; has Reviews, Tags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32197" y="2989659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Review</a:t>
            </a:r>
            <a:endParaRPr lang="en-US" sz="885" dirty="0"/>
          </a:p>
        </p:txBody>
      </p:sp>
      <p:sp>
        <p:nvSpPr>
          <p:cNvPr id="24" name="Text 21"/>
          <p:cNvSpPr/>
          <p:nvPr/>
        </p:nvSpPr>
        <p:spPr>
          <a:xfrm>
            <a:off x="2088096" y="2989659"/>
            <a:ext cx="331182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reviewer, rating (1-5), comment</a:t>
            </a:r>
            <a:endParaRPr lang="en-US" sz="942" dirty="0"/>
          </a:p>
        </p:txBody>
      </p:sp>
      <p:sp>
        <p:nvSpPr>
          <p:cNvPr id="25" name="Text 22"/>
          <p:cNvSpPr/>
          <p:nvPr/>
        </p:nvSpPr>
        <p:spPr>
          <a:xfrm>
            <a:off x="5399922" y="2989659"/>
            <a:ext cx="331188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Belongs to Track; triggers rating recalc</a:t>
            </a:r>
            <a:endParaRPr lang="en-US" sz="942" dirty="0"/>
          </a:p>
        </p:txBody>
      </p:sp>
      <p:sp>
        <p:nvSpPr>
          <p:cNvPr id="26" name="Shape 23"/>
          <p:cNvSpPr/>
          <p:nvPr/>
        </p:nvSpPr>
        <p:spPr>
          <a:xfrm>
            <a:off x="432197" y="3393281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432197" y="3393281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UserTag</a:t>
            </a:r>
            <a:endParaRPr lang="en-US" sz="885" dirty="0"/>
          </a:p>
        </p:txBody>
      </p:sp>
      <p:sp>
        <p:nvSpPr>
          <p:cNvPr id="28" name="Text 25"/>
          <p:cNvSpPr/>
          <p:nvPr/>
        </p:nvSpPr>
        <p:spPr>
          <a:xfrm>
            <a:off x="2088096" y="3393281"/>
            <a:ext cx="331182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tag_name, created_by</a:t>
            </a:r>
            <a:endParaRPr lang="en-US" sz="942" dirty="0"/>
          </a:p>
        </p:txBody>
      </p:sp>
      <p:sp>
        <p:nvSpPr>
          <p:cNvPr id="29" name="Text 26"/>
          <p:cNvSpPr/>
          <p:nvPr/>
        </p:nvSpPr>
        <p:spPr>
          <a:xfrm>
            <a:off x="5399922" y="3393281"/>
            <a:ext cx="331188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 per (track, tag_name)</a:t>
            </a:r>
            <a:endParaRPr lang="en-US" sz="942" dirty="0"/>
          </a:p>
        </p:txBody>
      </p:sp>
      <p:sp>
        <p:nvSpPr>
          <p:cNvPr id="30" name="Text 27"/>
          <p:cNvSpPr/>
          <p:nvPr/>
        </p:nvSpPr>
        <p:spPr>
          <a:xfrm>
            <a:off x="432197" y="3796903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Collection</a:t>
            </a:r>
            <a:endParaRPr lang="en-US" sz="885" dirty="0"/>
          </a:p>
        </p:txBody>
      </p:sp>
      <p:sp>
        <p:nvSpPr>
          <p:cNvPr id="31" name="Text 28"/>
          <p:cNvSpPr/>
          <p:nvPr/>
        </p:nvSpPr>
        <p:spPr>
          <a:xfrm>
            <a:off x="2088096" y="3796903"/>
            <a:ext cx="331182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name, description, created_by</a:t>
            </a:r>
            <a:endParaRPr lang="en-US" sz="942" dirty="0"/>
          </a:p>
        </p:txBody>
      </p:sp>
      <p:sp>
        <p:nvSpPr>
          <p:cNvPr id="32" name="Text 29"/>
          <p:cNvSpPr/>
          <p:nvPr/>
        </p:nvSpPr>
        <p:spPr>
          <a:xfrm>
            <a:off x="5399922" y="3796903"/>
            <a:ext cx="331188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Contains CollectionItems</a:t>
            </a:r>
            <a:endParaRPr lang="en-US" sz="942" dirty="0"/>
          </a:p>
        </p:txBody>
      </p:sp>
      <p:sp>
        <p:nvSpPr>
          <p:cNvPr id="33" name="Shape 30"/>
          <p:cNvSpPr/>
          <p:nvPr/>
        </p:nvSpPr>
        <p:spPr>
          <a:xfrm>
            <a:off x="432197" y="4200525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432197" y="4200525"/>
            <a:ext cx="1655899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CollectionItem</a:t>
            </a:r>
            <a:endParaRPr lang="en-US" sz="885" dirty="0"/>
          </a:p>
        </p:txBody>
      </p:sp>
      <p:sp>
        <p:nvSpPr>
          <p:cNvPr id="35" name="Text 32"/>
          <p:cNvSpPr/>
          <p:nvPr/>
        </p:nvSpPr>
        <p:spPr>
          <a:xfrm>
            <a:off x="2088096" y="4200525"/>
            <a:ext cx="3311826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track_id, note</a:t>
            </a:r>
            <a:endParaRPr lang="en-US" sz="942" dirty="0"/>
          </a:p>
        </p:txBody>
      </p:sp>
      <p:sp>
        <p:nvSpPr>
          <p:cNvPr id="36" name="Text 33"/>
          <p:cNvSpPr/>
          <p:nvPr/>
        </p:nvSpPr>
        <p:spPr>
          <a:xfrm>
            <a:off x="5399922" y="4200525"/>
            <a:ext cx="3311882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Links Track to Collection</a:t>
            </a:r>
            <a:endParaRPr lang="en-US" sz="942" dirty="0"/>
          </a:p>
        </p:txBody>
      </p:sp>
      <p:sp>
        <p:nvSpPr>
          <p:cNvPr id="37" name="Shape 34"/>
          <p:cNvSpPr/>
          <p:nvPr/>
        </p:nvSpPr>
        <p:spPr>
          <a:xfrm>
            <a:off x="0" y="4893469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38" name="Shape 35"/>
          <p:cNvSpPr/>
          <p:nvPr/>
        </p:nvSpPr>
        <p:spPr>
          <a:xfrm>
            <a:off x="0" y="4893469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39" name="Text 36"/>
          <p:cNvSpPr/>
          <p:nvPr/>
        </p:nvSpPr>
        <p:spPr>
          <a:xfrm>
            <a:off x="285750" y="4971157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40" name="Text 37"/>
          <p:cNvSpPr/>
          <p:nvPr/>
        </p:nvSpPr>
        <p:spPr>
          <a:xfrm>
            <a:off x="8129588" y="4971157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4 / 10</a:t>
            </a:r>
            <a:endParaRPr lang="en-US" sz="727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48959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~/xjco3011/coursework1/api_endpoints.json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81081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89422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71500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API Endpoints Overview</a:t>
            </a:r>
            <a:endParaRPr lang="en-US" sz="2016" dirty="0"/>
          </a:p>
        </p:txBody>
      </p:sp>
      <p:sp>
        <p:nvSpPr>
          <p:cNvPr id="9" name="Text 6"/>
          <p:cNvSpPr/>
          <p:nvPr/>
        </p:nvSpPr>
        <p:spPr>
          <a:xfrm>
            <a:off x="428625" y="1303734"/>
            <a:ext cx="82867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endpoints across 7 groups with API key authentication for write operations.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197" y="1623417"/>
            <a:ext cx="1241924" cy="346472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2197" y="1623417"/>
            <a:ext cx="1241924" cy="346472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Group</a:t>
            </a:r>
            <a:endParaRPr lang="en-US" sz="885" dirty="0"/>
          </a:p>
        </p:txBody>
      </p:sp>
      <p:sp>
        <p:nvSpPr>
          <p:cNvPr id="12" name="Shape 9"/>
          <p:cNvSpPr/>
          <p:nvPr/>
        </p:nvSpPr>
        <p:spPr>
          <a:xfrm>
            <a:off x="1674121" y="1623417"/>
            <a:ext cx="827949" cy="346472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674121" y="1623417"/>
            <a:ext cx="827949" cy="346472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Count</a:t>
            </a:r>
            <a:endParaRPr lang="en-US" sz="885" dirty="0"/>
          </a:p>
        </p:txBody>
      </p:sp>
      <p:sp>
        <p:nvSpPr>
          <p:cNvPr id="14" name="Shape 11"/>
          <p:cNvSpPr/>
          <p:nvPr/>
        </p:nvSpPr>
        <p:spPr>
          <a:xfrm>
            <a:off x="2502071" y="1623417"/>
            <a:ext cx="4967780" cy="346472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502071" y="1623417"/>
            <a:ext cx="4967780" cy="346472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Key Endpoints</a:t>
            </a:r>
            <a:endParaRPr lang="en-US" sz="885" dirty="0"/>
          </a:p>
        </p:txBody>
      </p:sp>
      <p:sp>
        <p:nvSpPr>
          <p:cNvPr id="16" name="Shape 13"/>
          <p:cNvSpPr/>
          <p:nvPr/>
        </p:nvSpPr>
        <p:spPr>
          <a:xfrm>
            <a:off x="7469851" y="1623417"/>
            <a:ext cx="1241952" cy="346472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469851" y="1623417"/>
            <a:ext cx="1241952" cy="346472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Auth</a:t>
            </a:r>
            <a:endParaRPr lang="en-US" sz="885" dirty="0"/>
          </a:p>
        </p:txBody>
      </p:sp>
      <p:sp>
        <p:nvSpPr>
          <p:cNvPr id="18" name="Text 15"/>
          <p:cNvSpPr/>
          <p:nvPr/>
        </p:nvSpPr>
        <p:spPr>
          <a:xfrm>
            <a:off x="432197" y="1962745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</a:t>
            </a:r>
            <a:endParaRPr lang="en-US" sz="784" dirty="0"/>
          </a:p>
        </p:txBody>
      </p:sp>
      <p:sp>
        <p:nvSpPr>
          <p:cNvPr id="19" name="Text 16"/>
          <p:cNvSpPr/>
          <p:nvPr/>
        </p:nvSpPr>
        <p:spPr>
          <a:xfrm>
            <a:off x="1674121" y="1962745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</a:t>
            </a:r>
            <a:endParaRPr lang="en-US" sz="834" dirty="0"/>
          </a:p>
        </p:txBody>
      </p:sp>
      <p:sp>
        <p:nvSpPr>
          <p:cNvPr id="20" name="Text 17"/>
          <p:cNvSpPr/>
          <p:nvPr/>
        </p:nvSpPr>
        <p:spPr>
          <a:xfrm>
            <a:off x="2648517" y="2052042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21" name="Text 18"/>
          <p:cNvSpPr/>
          <p:nvPr/>
        </p:nvSpPr>
        <p:spPr>
          <a:xfrm>
            <a:off x="2852114" y="2052042"/>
            <a:ext cx="27146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/,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3123577" y="2052042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23" name="Text 20"/>
          <p:cNvSpPr/>
          <p:nvPr/>
        </p:nvSpPr>
        <p:spPr>
          <a:xfrm>
            <a:off x="3327174" y="2052042"/>
            <a:ext cx="542925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/health</a:t>
            </a:r>
            <a:endParaRPr lang="en-US" sz="834" dirty="0"/>
          </a:p>
        </p:txBody>
      </p:sp>
      <p:sp>
        <p:nvSpPr>
          <p:cNvPr id="24" name="Text 21"/>
          <p:cNvSpPr/>
          <p:nvPr/>
        </p:nvSpPr>
        <p:spPr>
          <a:xfrm>
            <a:off x="7469851" y="1962745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</a:t>
            </a:r>
            <a:endParaRPr lang="en-US" sz="834" dirty="0"/>
          </a:p>
        </p:txBody>
      </p:sp>
      <p:sp>
        <p:nvSpPr>
          <p:cNvPr id="25" name="Shape 22"/>
          <p:cNvSpPr/>
          <p:nvPr/>
        </p:nvSpPr>
        <p:spPr>
          <a:xfrm>
            <a:off x="432197" y="2291358"/>
            <a:ext cx="8279606" cy="328613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6" name="Text 23"/>
          <p:cNvSpPr/>
          <p:nvPr/>
        </p:nvSpPr>
        <p:spPr>
          <a:xfrm>
            <a:off x="432197" y="2291358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Genres</a:t>
            </a:r>
            <a:endParaRPr lang="en-US" sz="784" dirty="0"/>
          </a:p>
        </p:txBody>
      </p:sp>
      <p:sp>
        <p:nvSpPr>
          <p:cNvPr id="27" name="Text 24"/>
          <p:cNvSpPr/>
          <p:nvPr/>
        </p:nvSpPr>
        <p:spPr>
          <a:xfrm>
            <a:off x="1674121" y="2291358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2648517" y="2380655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29" name="Text 26"/>
          <p:cNvSpPr/>
          <p:nvPr/>
        </p:nvSpPr>
        <p:spPr>
          <a:xfrm>
            <a:off x="2852114" y="2380655"/>
            <a:ext cx="67865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/genres,</a:t>
            </a:r>
            <a:endParaRPr lang="en-US" sz="834" dirty="0"/>
          </a:p>
        </p:txBody>
      </p:sp>
      <p:sp>
        <p:nvSpPr>
          <p:cNvPr id="30" name="Text 27"/>
          <p:cNvSpPr/>
          <p:nvPr/>
        </p:nvSpPr>
        <p:spPr>
          <a:xfrm>
            <a:off x="3530771" y="2380655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31" name="Text 28"/>
          <p:cNvSpPr/>
          <p:nvPr/>
        </p:nvSpPr>
        <p:spPr>
          <a:xfrm>
            <a:off x="3734367" y="2380655"/>
            <a:ext cx="88225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/genres/{id}</a:t>
            </a:r>
            <a:endParaRPr lang="en-US" sz="834" dirty="0"/>
          </a:p>
        </p:txBody>
      </p:sp>
      <p:sp>
        <p:nvSpPr>
          <p:cNvPr id="32" name="Text 29"/>
          <p:cNvSpPr/>
          <p:nvPr/>
        </p:nvSpPr>
        <p:spPr>
          <a:xfrm>
            <a:off x="7469851" y="2291358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</a:t>
            </a:r>
            <a:endParaRPr lang="en-US" sz="834" dirty="0"/>
          </a:p>
        </p:txBody>
      </p:sp>
      <p:sp>
        <p:nvSpPr>
          <p:cNvPr id="33" name="Text 30"/>
          <p:cNvSpPr/>
          <p:nvPr/>
        </p:nvSpPr>
        <p:spPr>
          <a:xfrm>
            <a:off x="432197" y="2619970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Tracks</a:t>
            </a:r>
            <a:endParaRPr lang="en-US" sz="784" dirty="0"/>
          </a:p>
        </p:txBody>
      </p:sp>
      <p:sp>
        <p:nvSpPr>
          <p:cNvPr id="34" name="Text 31"/>
          <p:cNvSpPr/>
          <p:nvPr/>
        </p:nvSpPr>
        <p:spPr>
          <a:xfrm>
            <a:off x="1674121" y="2619970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</a:t>
            </a:r>
            <a:endParaRPr lang="en-US" sz="834" dirty="0"/>
          </a:p>
        </p:txBody>
      </p:sp>
      <p:sp>
        <p:nvSpPr>
          <p:cNvPr id="35" name="Text 32"/>
          <p:cNvSpPr/>
          <p:nvPr/>
        </p:nvSpPr>
        <p:spPr>
          <a:xfrm>
            <a:off x="2648517" y="2709267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36" name="Text 33"/>
          <p:cNvSpPr/>
          <p:nvPr/>
        </p:nvSpPr>
        <p:spPr>
          <a:xfrm>
            <a:off x="2852114" y="2709267"/>
            <a:ext cx="2239566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/tracks (filters + pagination),</a:t>
            </a:r>
            <a:endParaRPr lang="en-US" sz="834" dirty="0"/>
          </a:p>
        </p:txBody>
      </p:sp>
      <p:sp>
        <p:nvSpPr>
          <p:cNvPr id="37" name="Text 34"/>
          <p:cNvSpPr/>
          <p:nvPr/>
        </p:nvSpPr>
        <p:spPr>
          <a:xfrm>
            <a:off x="5091680" y="2709267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38" name="Text 35"/>
          <p:cNvSpPr/>
          <p:nvPr/>
        </p:nvSpPr>
        <p:spPr>
          <a:xfrm>
            <a:off x="5295277" y="2709267"/>
            <a:ext cx="88225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/tracks/{id}</a:t>
            </a:r>
            <a:endParaRPr lang="en-US" sz="834" dirty="0"/>
          </a:p>
        </p:txBody>
      </p:sp>
      <p:sp>
        <p:nvSpPr>
          <p:cNvPr id="39" name="Text 36"/>
          <p:cNvSpPr/>
          <p:nvPr/>
        </p:nvSpPr>
        <p:spPr>
          <a:xfrm>
            <a:off x="7469851" y="2619970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</a:t>
            </a:r>
            <a:endParaRPr lang="en-US" sz="834" dirty="0"/>
          </a:p>
        </p:txBody>
      </p:sp>
      <p:sp>
        <p:nvSpPr>
          <p:cNvPr id="40" name="Shape 37"/>
          <p:cNvSpPr/>
          <p:nvPr/>
        </p:nvSpPr>
        <p:spPr>
          <a:xfrm>
            <a:off x="432197" y="2948583"/>
            <a:ext cx="8279606" cy="328613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41" name="Text 38"/>
          <p:cNvSpPr/>
          <p:nvPr/>
        </p:nvSpPr>
        <p:spPr>
          <a:xfrm>
            <a:off x="432197" y="2948583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Reviews</a:t>
            </a:r>
            <a:endParaRPr lang="en-US" sz="784" dirty="0"/>
          </a:p>
        </p:txBody>
      </p:sp>
      <p:sp>
        <p:nvSpPr>
          <p:cNvPr id="42" name="Text 39"/>
          <p:cNvSpPr/>
          <p:nvPr/>
        </p:nvSpPr>
        <p:spPr>
          <a:xfrm>
            <a:off x="1674121" y="2948583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</a:t>
            </a:r>
            <a:endParaRPr lang="en-US" sz="834" dirty="0"/>
          </a:p>
        </p:txBody>
      </p:sp>
      <p:sp>
        <p:nvSpPr>
          <p:cNvPr id="43" name="Text 40"/>
          <p:cNvSpPr/>
          <p:nvPr/>
        </p:nvSpPr>
        <p:spPr>
          <a:xfrm>
            <a:off x="2648517" y="3037880"/>
            <a:ext cx="746522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Full CRUD:</a:t>
            </a:r>
            <a:endParaRPr lang="en-US" sz="834" dirty="0"/>
          </a:p>
        </p:txBody>
      </p:sp>
      <p:sp>
        <p:nvSpPr>
          <p:cNvPr id="44" name="Text 41"/>
          <p:cNvSpPr/>
          <p:nvPr/>
        </p:nvSpPr>
        <p:spPr>
          <a:xfrm>
            <a:off x="3395039" y="3037880"/>
            <a:ext cx="27146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POST</a:t>
            </a:r>
            <a:endParaRPr lang="en-US" sz="784" dirty="0"/>
          </a:p>
        </p:txBody>
      </p:sp>
      <p:sp>
        <p:nvSpPr>
          <p:cNvPr id="45" name="Text 42"/>
          <p:cNvSpPr/>
          <p:nvPr/>
        </p:nvSpPr>
        <p:spPr>
          <a:xfrm>
            <a:off x="3666502" y="3037880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46" name="Text 43"/>
          <p:cNvSpPr/>
          <p:nvPr/>
        </p:nvSpPr>
        <p:spPr>
          <a:xfrm>
            <a:off x="3802233" y="3037880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47" name="Text 44"/>
          <p:cNvSpPr/>
          <p:nvPr/>
        </p:nvSpPr>
        <p:spPr>
          <a:xfrm>
            <a:off x="4005830" y="3037880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48" name="Text 45"/>
          <p:cNvSpPr/>
          <p:nvPr/>
        </p:nvSpPr>
        <p:spPr>
          <a:xfrm>
            <a:off x="4141561" y="3037880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PUT</a:t>
            </a:r>
            <a:endParaRPr lang="en-US" sz="784" dirty="0"/>
          </a:p>
        </p:txBody>
      </p:sp>
      <p:sp>
        <p:nvSpPr>
          <p:cNvPr id="49" name="Text 46"/>
          <p:cNvSpPr/>
          <p:nvPr/>
        </p:nvSpPr>
        <p:spPr>
          <a:xfrm>
            <a:off x="4345158" y="3037880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50" name="Text 47"/>
          <p:cNvSpPr/>
          <p:nvPr/>
        </p:nvSpPr>
        <p:spPr>
          <a:xfrm>
            <a:off x="4480889" y="3037880"/>
            <a:ext cx="4071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7B72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DELETE</a:t>
            </a:r>
            <a:endParaRPr lang="en-US" sz="784" dirty="0"/>
          </a:p>
        </p:txBody>
      </p:sp>
      <p:sp>
        <p:nvSpPr>
          <p:cNvPr id="51" name="Text 48"/>
          <p:cNvSpPr/>
          <p:nvPr/>
        </p:nvSpPr>
        <p:spPr>
          <a:xfrm>
            <a:off x="7469851" y="2948583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Write ops</a:t>
            </a:r>
            <a:endParaRPr lang="en-US" sz="834" dirty="0"/>
          </a:p>
        </p:txBody>
      </p:sp>
      <p:sp>
        <p:nvSpPr>
          <p:cNvPr id="52" name="Text 49"/>
          <p:cNvSpPr/>
          <p:nvPr/>
        </p:nvSpPr>
        <p:spPr>
          <a:xfrm>
            <a:off x="432197" y="3277195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Tags</a:t>
            </a:r>
            <a:endParaRPr lang="en-US" sz="784" dirty="0"/>
          </a:p>
        </p:txBody>
      </p:sp>
      <p:sp>
        <p:nvSpPr>
          <p:cNvPr id="53" name="Text 50"/>
          <p:cNvSpPr/>
          <p:nvPr/>
        </p:nvSpPr>
        <p:spPr>
          <a:xfrm>
            <a:off x="1674121" y="3277195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3</a:t>
            </a:r>
            <a:endParaRPr lang="en-US" sz="834" dirty="0"/>
          </a:p>
        </p:txBody>
      </p:sp>
      <p:sp>
        <p:nvSpPr>
          <p:cNvPr id="54" name="Text 51"/>
          <p:cNvSpPr/>
          <p:nvPr/>
        </p:nvSpPr>
        <p:spPr>
          <a:xfrm>
            <a:off x="2648517" y="3366492"/>
            <a:ext cx="27146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POST</a:t>
            </a:r>
            <a:endParaRPr lang="en-US" sz="784" dirty="0"/>
          </a:p>
        </p:txBody>
      </p:sp>
      <p:sp>
        <p:nvSpPr>
          <p:cNvPr id="55" name="Text 52"/>
          <p:cNvSpPr/>
          <p:nvPr/>
        </p:nvSpPr>
        <p:spPr>
          <a:xfrm>
            <a:off x="2919980" y="3366492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56" name="Text 53"/>
          <p:cNvSpPr/>
          <p:nvPr/>
        </p:nvSpPr>
        <p:spPr>
          <a:xfrm>
            <a:off x="3055711" y="3366492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57" name="Text 54"/>
          <p:cNvSpPr/>
          <p:nvPr/>
        </p:nvSpPr>
        <p:spPr>
          <a:xfrm>
            <a:off x="3259308" y="3366492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58" name="Text 55"/>
          <p:cNvSpPr/>
          <p:nvPr/>
        </p:nvSpPr>
        <p:spPr>
          <a:xfrm>
            <a:off x="3395039" y="3366492"/>
            <a:ext cx="4071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7B72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DELETE</a:t>
            </a:r>
            <a:endParaRPr lang="en-US" sz="784" dirty="0"/>
          </a:p>
        </p:txBody>
      </p:sp>
      <p:sp>
        <p:nvSpPr>
          <p:cNvPr id="59" name="Text 56"/>
          <p:cNvSpPr/>
          <p:nvPr/>
        </p:nvSpPr>
        <p:spPr>
          <a:xfrm>
            <a:off x="7469851" y="3277195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Write ops</a:t>
            </a:r>
            <a:endParaRPr lang="en-US" sz="834" dirty="0"/>
          </a:p>
        </p:txBody>
      </p:sp>
      <p:sp>
        <p:nvSpPr>
          <p:cNvPr id="60" name="Shape 57"/>
          <p:cNvSpPr/>
          <p:nvPr/>
        </p:nvSpPr>
        <p:spPr>
          <a:xfrm>
            <a:off x="432197" y="3605808"/>
            <a:ext cx="8279606" cy="328613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61" name="Text 58"/>
          <p:cNvSpPr/>
          <p:nvPr/>
        </p:nvSpPr>
        <p:spPr>
          <a:xfrm>
            <a:off x="432197" y="3605808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Collections</a:t>
            </a:r>
            <a:endParaRPr lang="en-US" sz="784" dirty="0"/>
          </a:p>
        </p:txBody>
      </p:sp>
      <p:sp>
        <p:nvSpPr>
          <p:cNvPr id="62" name="Text 59"/>
          <p:cNvSpPr/>
          <p:nvPr/>
        </p:nvSpPr>
        <p:spPr>
          <a:xfrm>
            <a:off x="1674121" y="3605808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6</a:t>
            </a:r>
            <a:endParaRPr lang="en-US" sz="834" dirty="0"/>
          </a:p>
        </p:txBody>
      </p:sp>
      <p:sp>
        <p:nvSpPr>
          <p:cNvPr id="63" name="Text 60"/>
          <p:cNvSpPr/>
          <p:nvPr/>
        </p:nvSpPr>
        <p:spPr>
          <a:xfrm>
            <a:off x="2648517" y="3695105"/>
            <a:ext cx="27146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POST</a:t>
            </a:r>
            <a:endParaRPr lang="en-US" sz="784" dirty="0"/>
          </a:p>
        </p:txBody>
      </p:sp>
      <p:sp>
        <p:nvSpPr>
          <p:cNvPr id="64" name="Text 61"/>
          <p:cNvSpPr/>
          <p:nvPr/>
        </p:nvSpPr>
        <p:spPr>
          <a:xfrm>
            <a:off x="2919980" y="3695105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65" name="Text 62"/>
          <p:cNvSpPr/>
          <p:nvPr/>
        </p:nvSpPr>
        <p:spPr>
          <a:xfrm>
            <a:off x="3055711" y="3695105"/>
            <a:ext cx="203597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66" name="Text 63"/>
          <p:cNvSpPr/>
          <p:nvPr/>
        </p:nvSpPr>
        <p:spPr>
          <a:xfrm>
            <a:off x="3259308" y="3695105"/>
            <a:ext cx="135731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endParaRPr lang="en-US" sz="834" dirty="0"/>
          </a:p>
        </p:txBody>
      </p:sp>
      <p:sp>
        <p:nvSpPr>
          <p:cNvPr id="67" name="Text 64"/>
          <p:cNvSpPr/>
          <p:nvPr/>
        </p:nvSpPr>
        <p:spPr>
          <a:xfrm>
            <a:off x="3395039" y="3695105"/>
            <a:ext cx="271463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POST</a:t>
            </a:r>
            <a:endParaRPr lang="en-US" sz="784" dirty="0"/>
          </a:p>
        </p:txBody>
      </p:sp>
      <p:sp>
        <p:nvSpPr>
          <p:cNvPr id="68" name="Text 65"/>
          <p:cNvSpPr/>
          <p:nvPr/>
        </p:nvSpPr>
        <p:spPr>
          <a:xfrm>
            <a:off x="3666502" y="3695105"/>
            <a:ext cx="47505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item,</a:t>
            </a:r>
            <a:endParaRPr lang="en-US" sz="834" dirty="0"/>
          </a:p>
        </p:txBody>
      </p:sp>
      <p:sp>
        <p:nvSpPr>
          <p:cNvPr id="69" name="Text 66"/>
          <p:cNvSpPr/>
          <p:nvPr/>
        </p:nvSpPr>
        <p:spPr>
          <a:xfrm>
            <a:off x="4141561" y="3695105"/>
            <a:ext cx="4071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7B72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DELETE</a:t>
            </a:r>
            <a:endParaRPr lang="en-US" sz="784" dirty="0"/>
          </a:p>
        </p:txBody>
      </p:sp>
      <p:sp>
        <p:nvSpPr>
          <p:cNvPr id="70" name="Text 67"/>
          <p:cNvSpPr/>
          <p:nvPr/>
        </p:nvSpPr>
        <p:spPr>
          <a:xfrm>
            <a:off x="4548755" y="3695105"/>
            <a:ext cx="475059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item,</a:t>
            </a:r>
            <a:endParaRPr lang="en-US" sz="834" dirty="0"/>
          </a:p>
        </p:txBody>
      </p:sp>
      <p:sp>
        <p:nvSpPr>
          <p:cNvPr id="71" name="Text 68"/>
          <p:cNvSpPr/>
          <p:nvPr/>
        </p:nvSpPr>
        <p:spPr>
          <a:xfrm>
            <a:off x="5023814" y="3695105"/>
            <a:ext cx="407194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FF7B72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DELETE</a:t>
            </a:r>
            <a:endParaRPr lang="en-US" sz="784" dirty="0"/>
          </a:p>
        </p:txBody>
      </p:sp>
      <p:sp>
        <p:nvSpPr>
          <p:cNvPr id="72" name="Text 69"/>
          <p:cNvSpPr/>
          <p:nvPr/>
        </p:nvSpPr>
        <p:spPr>
          <a:xfrm>
            <a:off x="5431008" y="3695105"/>
            <a:ext cx="746522" cy="15001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collection</a:t>
            </a:r>
            <a:endParaRPr lang="en-US" sz="834" dirty="0"/>
          </a:p>
        </p:txBody>
      </p:sp>
      <p:sp>
        <p:nvSpPr>
          <p:cNvPr id="73" name="Text 70"/>
          <p:cNvSpPr/>
          <p:nvPr/>
        </p:nvSpPr>
        <p:spPr>
          <a:xfrm>
            <a:off x="7469851" y="3605808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Write ops</a:t>
            </a:r>
            <a:endParaRPr lang="en-US" sz="834" dirty="0"/>
          </a:p>
        </p:txBody>
      </p:sp>
      <p:sp>
        <p:nvSpPr>
          <p:cNvPr id="74" name="Text 71"/>
          <p:cNvSpPr/>
          <p:nvPr/>
        </p:nvSpPr>
        <p:spPr>
          <a:xfrm>
            <a:off x="432197" y="3934420"/>
            <a:ext cx="1241924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E6EDF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Analytics</a:t>
            </a:r>
            <a:endParaRPr lang="en-US" sz="784" dirty="0"/>
          </a:p>
        </p:txBody>
      </p:sp>
      <p:sp>
        <p:nvSpPr>
          <p:cNvPr id="75" name="Text 72"/>
          <p:cNvSpPr/>
          <p:nvPr/>
        </p:nvSpPr>
        <p:spPr>
          <a:xfrm>
            <a:off x="1674121" y="3934420"/>
            <a:ext cx="827949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</a:t>
            </a:r>
            <a:endParaRPr lang="en-US" sz="834" dirty="0"/>
          </a:p>
        </p:txBody>
      </p:sp>
      <p:sp>
        <p:nvSpPr>
          <p:cNvPr id="76" name="Text 73"/>
          <p:cNvSpPr/>
          <p:nvPr/>
        </p:nvSpPr>
        <p:spPr>
          <a:xfrm>
            <a:off x="2502071" y="3934420"/>
            <a:ext cx="4967780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top-rated, genre-summary, top-tags, mood-dist, review-activity</a:t>
            </a:r>
            <a:endParaRPr lang="en-US" sz="834" dirty="0"/>
          </a:p>
        </p:txBody>
      </p:sp>
      <p:sp>
        <p:nvSpPr>
          <p:cNvPr id="77" name="Text 74"/>
          <p:cNvSpPr/>
          <p:nvPr/>
        </p:nvSpPr>
        <p:spPr>
          <a:xfrm>
            <a:off x="7469851" y="3934420"/>
            <a:ext cx="1241952" cy="328613"/>
          </a:xfrm>
          <a:prstGeom prst="rect">
            <a:avLst/>
          </a:prstGeom>
          <a:noFill/>
          <a:ln/>
        </p:spPr>
        <p:txBody>
          <a:bodyPr wrap="square" lIns="170053" tIns="102108" rIns="170053" bIns="102108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No</a:t>
            </a:r>
            <a:endParaRPr lang="en-US" sz="834" dirty="0"/>
          </a:p>
        </p:txBody>
      </p:sp>
      <p:sp>
        <p:nvSpPr>
          <p:cNvPr id="78" name="Shape 75"/>
          <p:cNvSpPr/>
          <p:nvPr/>
        </p:nvSpPr>
        <p:spPr>
          <a:xfrm>
            <a:off x="0" y="485775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79" name="Shape 76"/>
          <p:cNvSpPr/>
          <p:nvPr/>
        </p:nvSpPr>
        <p:spPr>
          <a:xfrm>
            <a:off x="0" y="4857750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0" name="Text 77"/>
          <p:cNvSpPr/>
          <p:nvPr/>
        </p:nvSpPr>
        <p:spPr>
          <a:xfrm>
            <a:off x="285750" y="4935438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81" name="Text 78"/>
          <p:cNvSpPr/>
          <p:nvPr/>
        </p:nvSpPr>
        <p:spPr>
          <a:xfrm>
            <a:off x="8129588" y="4935438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5 / 10</a:t>
            </a:r>
            <a:endParaRPr lang="en-US" sz="727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246709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~/xjco3011/coursework1/reviews_api.js</a:t>
            </a:r>
            <a:endParaRPr lang="en-US" sz="727" dirty="0"/>
          </a:p>
        </p:txBody>
      </p:sp>
      <p:sp>
        <p:nvSpPr>
          <p:cNvPr id="6" name="Text 3"/>
          <p:cNvSpPr/>
          <p:nvPr/>
        </p:nvSpPr>
        <p:spPr>
          <a:xfrm>
            <a:off x="428625" y="500063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CRUD Demo: Reviews</a:t>
            </a:r>
            <a:endParaRPr lang="en-US" sz="2016" dirty="0"/>
          </a:p>
        </p:txBody>
      </p:sp>
      <p:sp>
        <p:nvSpPr>
          <p:cNvPr id="7" name="Text 4"/>
          <p:cNvSpPr/>
          <p:nvPr/>
        </p:nvSpPr>
        <p:spPr>
          <a:xfrm>
            <a:off x="428625" y="946547"/>
            <a:ext cx="82867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review lifecycle with automatic rating recalculation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0" y="1176933"/>
            <a:ext cx="9144000" cy="3482411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9" name="Shape 6"/>
          <p:cNvSpPr/>
          <p:nvPr/>
        </p:nvSpPr>
        <p:spPr>
          <a:xfrm>
            <a:off x="0" y="1176933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10" name="Shape 7"/>
          <p:cNvSpPr/>
          <p:nvPr/>
        </p:nvSpPr>
        <p:spPr>
          <a:xfrm>
            <a:off x="142875" y="1262658"/>
            <a:ext cx="414338" cy="207169"/>
          </a:xfrm>
          <a:prstGeom prst="rect">
            <a:avLst/>
          </a:prstGeom>
          <a:solidFill>
            <a:srgbClr val="7EE787"/>
          </a:solidFill>
          <a:ln/>
        </p:spPr>
      </p:sp>
      <p:sp>
        <p:nvSpPr>
          <p:cNvPr id="11" name="Text 8"/>
          <p:cNvSpPr/>
          <p:nvPr/>
        </p:nvSpPr>
        <p:spPr>
          <a:xfrm>
            <a:off x="142875" y="1262658"/>
            <a:ext cx="414338" cy="207169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D111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POST</a:t>
            </a:r>
            <a:endParaRPr lang="en-US" sz="784" dirty="0"/>
          </a:p>
        </p:txBody>
      </p:sp>
      <p:sp>
        <p:nvSpPr>
          <p:cNvPr id="12" name="Text 9"/>
          <p:cNvSpPr/>
          <p:nvPr/>
        </p:nvSpPr>
        <p:spPr>
          <a:xfrm>
            <a:off x="642938" y="1272480"/>
            <a:ext cx="6858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/reviews</a:t>
            </a:r>
            <a:endParaRPr lang="en-US" sz="987" dirty="0"/>
          </a:p>
        </p:txBody>
      </p:sp>
      <p:sp>
        <p:nvSpPr>
          <p:cNvPr id="13" name="Shape 10"/>
          <p:cNvSpPr/>
          <p:nvPr/>
        </p:nvSpPr>
        <p:spPr>
          <a:xfrm>
            <a:off x="3604022" y="1279624"/>
            <a:ext cx="817959" cy="173236"/>
          </a:xfrm>
          <a:prstGeom prst="roundRect">
            <a:avLst/>
          </a:prstGeom>
          <a:solidFill>
            <a:srgbClr val="D2A8FF">
              <a:alpha val="10000"/>
            </a:srgbClr>
          </a:solidFill>
          <a:ln w="9144">
            <a:solidFill>
              <a:srgbClr val="D2A8FF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5459" y="1316236"/>
            <a:ext cx="100013" cy="100013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818334" y="1301055"/>
            <a:ext cx="54649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X-API-Key</a:t>
            </a:r>
            <a:endParaRPr lang="en-US" sz="727" dirty="0"/>
          </a:p>
        </p:txBody>
      </p:sp>
      <p:sp>
        <p:nvSpPr>
          <p:cNvPr id="16" name="Shape 12"/>
          <p:cNvSpPr/>
          <p:nvPr/>
        </p:nvSpPr>
        <p:spPr>
          <a:xfrm>
            <a:off x="142875" y="1555552"/>
            <a:ext cx="4279106" cy="1591494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142875" y="1555552"/>
            <a:ext cx="4279106" cy="1591494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i="1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Request Payload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{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"track_id"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834" dirty="0">
                <a:solidFill>
                  <a:srgbClr val="79C0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1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"reviewer_name"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"Alice"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"rating"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834" dirty="0">
                <a:solidFill>
                  <a:srgbClr val="79C0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,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"comment"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834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"A masterpiece"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}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i="1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Response: 201 Created</a:t>
            </a:r>
            <a:endParaRPr lang="en-US" sz="834" dirty="0"/>
          </a:p>
        </p:txBody>
      </p:sp>
      <p:sp>
        <p:nvSpPr>
          <p:cNvPr id="18" name="Shape 14"/>
          <p:cNvSpPr/>
          <p:nvPr/>
        </p:nvSpPr>
        <p:spPr>
          <a:xfrm>
            <a:off x="4714875" y="1262658"/>
            <a:ext cx="346472" cy="207169"/>
          </a:xfrm>
          <a:prstGeom prst="rect">
            <a:avLst/>
          </a:prstGeom>
          <a:solidFill>
            <a:srgbClr val="58A6FF"/>
          </a:solidFill>
          <a:ln/>
        </p:spPr>
      </p:sp>
      <p:sp>
        <p:nvSpPr>
          <p:cNvPr id="19" name="Text 15"/>
          <p:cNvSpPr/>
          <p:nvPr/>
        </p:nvSpPr>
        <p:spPr>
          <a:xfrm>
            <a:off x="4714875" y="1262658"/>
            <a:ext cx="346472" cy="207169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D111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GET</a:t>
            </a:r>
            <a:endParaRPr lang="en-US" sz="784" dirty="0"/>
          </a:p>
        </p:txBody>
      </p:sp>
      <p:sp>
        <p:nvSpPr>
          <p:cNvPr id="20" name="Text 16"/>
          <p:cNvSpPr/>
          <p:nvPr/>
        </p:nvSpPr>
        <p:spPr>
          <a:xfrm>
            <a:off x="5147072" y="1272480"/>
            <a:ext cx="6858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/reviews</a:t>
            </a:r>
            <a:endParaRPr lang="en-US" sz="987" dirty="0"/>
          </a:p>
        </p:txBody>
      </p:sp>
      <p:sp>
        <p:nvSpPr>
          <p:cNvPr id="21" name="Text 17"/>
          <p:cNvSpPr/>
          <p:nvPr/>
        </p:nvSpPr>
        <p:spPr>
          <a:xfrm>
            <a:off x="4714875" y="1526977"/>
            <a:ext cx="4286250" cy="18286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i="1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?track_id=1&amp;min_rating=4</a:t>
            </a:r>
            <a:endParaRPr lang="en-US" sz="834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5" y="1773241"/>
            <a:ext cx="142875" cy="114300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4943475" y="1752702"/>
            <a:ext cx="202703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Filtering by track, reviewer, rating</a:t>
            </a:r>
            <a:endParaRPr lang="en-US" sz="942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875" y="1971480"/>
            <a:ext cx="142875" cy="11430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4943475" y="1950941"/>
            <a:ext cx="1707356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Partial name matching (ilike)</a:t>
            </a:r>
            <a:endParaRPr lang="en-US" sz="942" dirty="0"/>
          </a:p>
        </p:txBody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875" y="2169719"/>
            <a:ext cx="142875" cy="11430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4943475" y="2149180"/>
            <a:ext cx="1473398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Offset-based pagination</a:t>
            </a:r>
            <a:endParaRPr lang="en-US" sz="942" dirty="0"/>
          </a:p>
        </p:txBody>
      </p:sp>
      <p:sp>
        <p:nvSpPr>
          <p:cNvPr id="28" name="Shape 21"/>
          <p:cNvSpPr/>
          <p:nvPr/>
        </p:nvSpPr>
        <p:spPr>
          <a:xfrm>
            <a:off x="142875" y="3311351"/>
            <a:ext cx="346472" cy="207169"/>
          </a:xfrm>
          <a:prstGeom prst="rect">
            <a:avLst/>
          </a:prstGeom>
          <a:solidFill>
            <a:srgbClr val="FFBD2E"/>
          </a:solidFill>
          <a:ln/>
        </p:spPr>
      </p:sp>
      <p:sp>
        <p:nvSpPr>
          <p:cNvPr id="29" name="Text 22"/>
          <p:cNvSpPr/>
          <p:nvPr/>
        </p:nvSpPr>
        <p:spPr>
          <a:xfrm>
            <a:off x="142875" y="3311351"/>
            <a:ext cx="346472" cy="207169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D111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PUT</a:t>
            </a:r>
            <a:endParaRPr lang="en-US" sz="784" dirty="0"/>
          </a:p>
        </p:txBody>
      </p:sp>
      <p:sp>
        <p:nvSpPr>
          <p:cNvPr id="30" name="Text 23"/>
          <p:cNvSpPr/>
          <p:nvPr/>
        </p:nvSpPr>
        <p:spPr>
          <a:xfrm>
            <a:off x="575072" y="3321174"/>
            <a:ext cx="11144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/reviews/{id}</a:t>
            </a:r>
            <a:endParaRPr lang="en-US" sz="987" dirty="0"/>
          </a:p>
        </p:txBody>
      </p:sp>
      <p:sp>
        <p:nvSpPr>
          <p:cNvPr id="31" name="Shape 24"/>
          <p:cNvSpPr/>
          <p:nvPr/>
        </p:nvSpPr>
        <p:spPr>
          <a:xfrm>
            <a:off x="3604022" y="3328318"/>
            <a:ext cx="817959" cy="173236"/>
          </a:xfrm>
          <a:prstGeom prst="roundRect">
            <a:avLst/>
          </a:prstGeom>
          <a:solidFill>
            <a:srgbClr val="D2A8FF">
              <a:alpha val="10000"/>
            </a:srgbClr>
          </a:solidFill>
          <a:ln w="9144">
            <a:solidFill>
              <a:srgbClr val="D2A8FF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75459" y="3364929"/>
            <a:ext cx="100013" cy="100013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3818334" y="3349749"/>
            <a:ext cx="54649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X-API-Key</a:t>
            </a:r>
            <a:endParaRPr lang="en-US" sz="727" dirty="0"/>
          </a:p>
        </p:txBody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2875" y="3639071"/>
            <a:ext cx="142875" cy="11430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371475" y="3618533"/>
            <a:ext cx="149483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Partial update supported</a:t>
            </a:r>
            <a:endParaRPr lang="en-US" sz="942" dirty="0"/>
          </a:p>
        </p:txBody>
      </p:sp>
      <p:pic>
        <p:nvPicPr>
          <p:cNvPr id="3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2875" y="3840882"/>
            <a:ext cx="142875" cy="114300"/>
          </a:xfrm>
          <a:prstGeom prst="rect">
            <a:avLst/>
          </a:prstGeom>
        </p:spPr>
      </p:pic>
      <p:sp>
        <p:nvSpPr>
          <p:cNvPr id="37" name="Text 27"/>
          <p:cNvSpPr/>
          <p:nvPr/>
        </p:nvSpPr>
        <p:spPr>
          <a:xfrm>
            <a:off x="371475" y="3816772"/>
            <a:ext cx="1455539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Auto-recalculates track</a:t>
            </a:r>
            <a:endParaRPr lang="en-US" sz="942" dirty="0"/>
          </a:p>
        </p:txBody>
      </p:sp>
      <p:sp>
        <p:nvSpPr>
          <p:cNvPr id="38" name="Shape 28"/>
          <p:cNvSpPr/>
          <p:nvPr/>
        </p:nvSpPr>
        <p:spPr>
          <a:xfrm>
            <a:off x="1827014" y="3813200"/>
            <a:ext cx="1060847" cy="180380"/>
          </a:xfrm>
          <a:prstGeom prst="rect">
            <a:avLst/>
          </a:prstGeom>
          <a:solidFill>
            <a:srgbClr val="6E7681">
              <a:alpha val="40000"/>
            </a:srgbClr>
          </a:solidFill>
          <a:ln/>
        </p:spPr>
      </p:sp>
      <p:sp>
        <p:nvSpPr>
          <p:cNvPr id="39" name="Text 29"/>
          <p:cNvSpPr/>
          <p:nvPr/>
        </p:nvSpPr>
        <p:spPr>
          <a:xfrm>
            <a:off x="1827014" y="3813200"/>
            <a:ext cx="1060847" cy="180380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45" dirty="0">
                <a:solidFill>
                  <a:srgbClr val="C9D1D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average_rating</a:t>
            </a:r>
            <a:endParaRPr lang="en-US" sz="845" dirty="0"/>
          </a:p>
        </p:txBody>
      </p:sp>
      <p:sp>
        <p:nvSpPr>
          <p:cNvPr id="40" name="Shape 30"/>
          <p:cNvSpPr/>
          <p:nvPr/>
        </p:nvSpPr>
        <p:spPr>
          <a:xfrm>
            <a:off x="142875" y="4050729"/>
            <a:ext cx="4279106" cy="494314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41" name="Text 31"/>
          <p:cNvSpPr/>
          <p:nvPr/>
        </p:nvSpPr>
        <p:spPr>
          <a:xfrm>
            <a:off x="142875" y="4050729"/>
            <a:ext cx="4279106" cy="494314"/>
          </a:xfrm>
          <a:prstGeom prst="rect">
            <a:avLst/>
          </a:prstGeom>
          <a:noFill/>
          <a:ln/>
        </p:spPr>
        <p:txBody>
          <a:bodyPr wrap="square" lIns="68072" tIns="68072" rIns="68072" bIns="68072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i="1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Request (Partial Update)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
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{ </a:t>
            </a: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"rating"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: </a:t>
            </a:r>
            <a:r>
              <a:rPr lang="en-US" sz="834" dirty="0">
                <a:solidFill>
                  <a:srgbClr val="79C0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4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}</a:t>
            </a:r>
            <a:endParaRPr lang="en-US" sz="834" dirty="0"/>
          </a:p>
        </p:txBody>
      </p:sp>
      <p:sp>
        <p:nvSpPr>
          <p:cNvPr id="42" name="Shape 32"/>
          <p:cNvSpPr/>
          <p:nvPr/>
        </p:nvSpPr>
        <p:spPr>
          <a:xfrm>
            <a:off x="4714875" y="3311351"/>
            <a:ext cx="550069" cy="207169"/>
          </a:xfrm>
          <a:prstGeom prst="rect">
            <a:avLst/>
          </a:prstGeom>
          <a:solidFill>
            <a:srgbClr val="FF5F56"/>
          </a:solidFill>
          <a:ln/>
        </p:spPr>
      </p:sp>
      <p:sp>
        <p:nvSpPr>
          <p:cNvPr id="43" name="Text 33"/>
          <p:cNvSpPr/>
          <p:nvPr/>
        </p:nvSpPr>
        <p:spPr>
          <a:xfrm>
            <a:off x="4714875" y="3311351"/>
            <a:ext cx="550069" cy="207169"/>
          </a:xfrm>
          <a:prstGeom prst="rect">
            <a:avLst/>
          </a:prstGeom>
          <a:noFill/>
          <a:ln/>
        </p:spPr>
        <p:txBody>
          <a:bodyPr wrap="square" lIns="85090" tIns="34036" rIns="85090" bIns="34036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784" b="1" dirty="0">
                <a:solidFill>
                  <a:srgbClr val="0D111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DELETE</a:t>
            </a:r>
            <a:endParaRPr lang="en-US" sz="784" dirty="0"/>
          </a:p>
        </p:txBody>
      </p:sp>
      <p:sp>
        <p:nvSpPr>
          <p:cNvPr id="44" name="Text 34"/>
          <p:cNvSpPr/>
          <p:nvPr/>
        </p:nvSpPr>
        <p:spPr>
          <a:xfrm>
            <a:off x="5350669" y="3321174"/>
            <a:ext cx="1114425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/reviews/{id}</a:t>
            </a:r>
            <a:endParaRPr lang="en-US" sz="987" dirty="0"/>
          </a:p>
        </p:txBody>
      </p:sp>
      <p:sp>
        <p:nvSpPr>
          <p:cNvPr id="45" name="Shape 35"/>
          <p:cNvSpPr/>
          <p:nvPr/>
        </p:nvSpPr>
        <p:spPr>
          <a:xfrm>
            <a:off x="8183166" y="3328318"/>
            <a:ext cx="817959" cy="173236"/>
          </a:xfrm>
          <a:prstGeom prst="roundRect">
            <a:avLst/>
          </a:prstGeom>
          <a:solidFill>
            <a:srgbClr val="D2A8FF">
              <a:alpha val="10000"/>
            </a:srgbClr>
          </a:solidFill>
          <a:ln w="9144">
            <a:solidFill>
              <a:srgbClr val="D2A8FF"/>
            </a:solidFill>
            <a:prstDash val="solid"/>
          </a:ln>
        </p:spPr>
      </p:sp>
      <p:pic>
        <p:nvPicPr>
          <p:cNvPr id="46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54603" y="3364929"/>
            <a:ext cx="100013" cy="100013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8397478" y="3349749"/>
            <a:ext cx="546497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X-API-Key</a:t>
            </a:r>
            <a:endParaRPr lang="en-US" sz="727" dirty="0"/>
          </a:p>
        </p:txBody>
      </p:sp>
      <p:pic>
        <p:nvPicPr>
          <p:cNvPr id="4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875" y="3639071"/>
            <a:ext cx="142875" cy="114300"/>
          </a:xfrm>
          <a:prstGeom prst="rect">
            <a:avLst/>
          </a:prstGeom>
        </p:spPr>
      </p:pic>
      <p:sp>
        <p:nvSpPr>
          <p:cNvPr id="49" name="Text 37"/>
          <p:cNvSpPr/>
          <p:nvPr/>
        </p:nvSpPr>
        <p:spPr>
          <a:xfrm>
            <a:off x="4943475" y="3618533"/>
            <a:ext cx="1905595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Removes review from database</a:t>
            </a:r>
            <a:endParaRPr lang="en-US" sz="942" dirty="0"/>
          </a:p>
        </p:txBody>
      </p:sp>
      <p:pic>
        <p:nvPicPr>
          <p:cNvPr id="50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14875" y="3840882"/>
            <a:ext cx="142875" cy="114300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4943475" y="3816772"/>
            <a:ext cx="505420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Returns</a:t>
            </a:r>
            <a:endParaRPr lang="en-US" sz="942" dirty="0"/>
          </a:p>
        </p:txBody>
      </p:sp>
      <p:sp>
        <p:nvSpPr>
          <p:cNvPr id="52" name="Shape 39"/>
          <p:cNvSpPr/>
          <p:nvPr/>
        </p:nvSpPr>
        <p:spPr>
          <a:xfrm>
            <a:off x="5448895" y="3813200"/>
            <a:ext cx="1060847" cy="180380"/>
          </a:xfrm>
          <a:prstGeom prst="rect">
            <a:avLst/>
          </a:prstGeom>
          <a:solidFill>
            <a:srgbClr val="6E7681">
              <a:alpha val="40000"/>
            </a:srgbClr>
          </a:solidFill>
          <a:ln/>
        </p:spPr>
      </p:sp>
      <p:sp>
        <p:nvSpPr>
          <p:cNvPr id="53" name="Text 40"/>
          <p:cNvSpPr/>
          <p:nvPr/>
        </p:nvSpPr>
        <p:spPr>
          <a:xfrm>
            <a:off x="5448895" y="3813200"/>
            <a:ext cx="1060847" cy="180380"/>
          </a:xfrm>
          <a:prstGeom prst="rect">
            <a:avLst/>
          </a:prstGeom>
          <a:noFill/>
          <a:ln/>
        </p:spPr>
        <p:txBody>
          <a:bodyPr wrap="none" lIns="51054" tIns="17018" rIns="51054" bIns="17018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45" dirty="0">
                <a:solidFill>
                  <a:srgbClr val="C9D1D9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204 No Content</a:t>
            </a:r>
            <a:endParaRPr lang="en-US" sz="845" dirty="0"/>
          </a:p>
        </p:txBody>
      </p:sp>
      <p:pic>
        <p:nvPicPr>
          <p:cNvPr id="5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4875" y="4042693"/>
            <a:ext cx="142875" cy="114300"/>
          </a:xfrm>
          <a:prstGeom prst="rect">
            <a:avLst/>
          </a:prstGeom>
        </p:spPr>
      </p:pic>
      <p:sp>
        <p:nvSpPr>
          <p:cNvPr id="55" name="Text 41"/>
          <p:cNvSpPr/>
          <p:nvPr/>
        </p:nvSpPr>
        <p:spPr>
          <a:xfrm>
            <a:off x="4943475" y="4022154"/>
            <a:ext cx="1700213" cy="15537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Triggers rating recalculation</a:t>
            </a:r>
            <a:endParaRPr lang="en-US" sz="942" dirty="0"/>
          </a:p>
        </p:txBody>
      </p:sp>
      <p:sp>
        <p:nvSpPr>
          <p:cNvPr id="56" name="Shape 42"/>
          <p:cNvSpPr/>
          <p:nvPr/>
        </p:nvSpPr>
        <p:spPr>
          <a:xfrm>
            <a:off x="0" y="4623625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57" name="Text 43"/>
          <p:cNvSpPr/>
          <p:nvPr/>
        </p:nvSpPr>
        <p:spPr>
          <a:xfrm>
            <a:off x="285750" y="4701313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58" name="Text 44"/>
          <p:cNvSpPr/>
          <p:nvPr/>
        </p:nvSpPr>
        <p:spPr>
          <a:xfrm>
            <a:off x="8129588" y="4701313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6 / 10</a:t>
            </a:r>
            <a:endParaRPr lang="en-US" sz="727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793206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~/xjco3011/coursework1/analytics_endpoints.sql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81081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89422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71500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Analytics Endpoints</a:t>
            </a:r>
            <a:endParaRPr lang="en-US" sz="2016" dirty="0"/>
          </a:p>
        </p:txBody>
      </p:sp>
      <p:sp>
        <p:nvSpPr>
          <p:cNvPr id="9" name="Text 6"/>
          <p:cNvSpPr/>
          <p:nvPr/>
        </p:nvSpPr>
        <p:spPr>
          <a:xfrm>
            <a:off x="428625" y="1375172"/>
            <a:ext cx="828675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analytics endpoints demonstrate advanced SQL aggregation through SQLAlchemy ORM.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432197" y="1766292"/>
            <a:ext cx="2897851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2197" y="1766292"/>
            <a:ext cx="2897851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Endpoint</a:t>
            </a:r>
            <a:endParaRPr lang="en-US" sz="987" dirty="0"/>
          </a:p>
        </p:txBody>
      </p:sp>
      <p:sp>
        <p:nvSpPr>
          <p:cNvPr id="12" name="Shape 9"/>
          <p:cNvSpPr/>
          <p:nvPr/>
        </p:nvSpPr>
        <p:spPr>
          <a:xfrm>
            <a:off x="3330048" y="1766292"/>
            <a:ext cx="2897851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3330048" y="1766292"/>
            <a:ext cx="2897851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SQL Features</a:t>
            </a:r>
            <a:endParaRPr lang="en-US" sz="987" dirty="0"/>
          </a:p>
        </p:txBody>
      </p:sp>
      <p:sp>
        <p:nvSpPr>
          <p:cNvPr id="14" name="Shape 11"/>
          <p:cNvSpPr/>
          <p:nvPr/>
        </p:nvSpPr>
        <p:spPr>
          <a:xfrm>
            <a:off x="6227899" y="1766292"/>
            <a:ext cx="2483904" cy="42326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227899" y="1766292"/>
            <a:ext cx="2483904" cy="42326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Returns</a:t>
            </a:r>
            <a:endParaRPr lang="en-US" sz="987" dirty="0"/>
          </a:p>
        </p:txBody>
      </p:sp>
      <p:sp>
        <p:nvSpPr>
          <p:cNvPr id="16" name="Text 13"/>
          <p:cNvSpPr/>
          <p:nvPr/>
        </p:nvSpPr>
        <p:spPr>
          <a:xfrm>
            <a:off x="432197" y="2182416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/analytics/top-rated-tracks</a:t>
            </a:r>
            <a:endParaRPr lang="en-US" sz="942" dirty="0"/>
          </a:p>
        </p:txBody>
      </p:sp>
      <p:sp>
        <p:nvSpPr>
          <p:cNvPr id="17" name="Text 14"/>
          <p:cNvSpPr/>
          <p:nvPr/>
        </p:nvSpPr>
        <p:spPr>
          <a:xfrm>
            <a:off x="3330048" y="2182416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func.avg, func.count, having</a:t>
            </a:r>
            <a:endParaRPr lang="en-US" sz="942" dirty="0"/>
          </a:p>
        </p:txBody>
      </p:sp>
      <p:sp>
        <p:nvSpPr>
          <p:cNvPr id="18" name="Text 15"/>
          <p:cNvSpPr/>
          <p:nvPr/>
        </p:nvSpPr>
        <p:spPr>
          <a:xfrm>
            <a:off x="6227899" y="2182416"/>
            <a:ext cx="2483904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Ranked tracks with review counts</a:t>
            </a:r>
            <a:endParaRPr lang="en-US" sz="942" dirty="0"/>
          </a:p>
        </p:txBody>
      </p:sp>
      <p:sp>
        <p:nvSpPr>
          <p:cNvPr id="19" name="Shape 16"/>
          <p:cNvSpPr/>
          <p:nvPr/>
        </p:nvSpPr>
        <p:spPr>
          <a:xfrm>
            <a:off x="432197" y="2586038"/>
            <a:ext cx="8279606" cy="546497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432197" y="2586038"/>
            <a:ext cx="2897851" cy="54649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/analytics/genre-summary</a:t>
            </a:r>
            <a:endParaRPr lang="en-US" sz="942" dirty="0"/>
          </a:p>
        </p:txBody>
      </p:sp>
      <p:sp>
        <p:nvSpPr>
          <p:cNvPr id="21" name="Text 18"/>
          <p:cNvSpPr/>
          <p:nvPr/>
        </p:nvSpPr>
        <p:spPr>
          <a:xfrm>
            <a:off x="3330048" y="2586038"/>
            <a:ext cx="2897851" cy="54649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func.count, func.avg, outerjoin</a:t>
            </a:r>
            <a:endParaRPr lang="en-US" sz="942" dirty="0"/>
          </a:p>
        </p:txBody>
      </p:sp>
      <p:sp>
        <p:nvSpPr>
          <p:cNvPr id="22" name="Text 19"/>
          <p:cNvSpPr/>
          <p:nvPr/>
        </p:nvSpPr>
        <p:spPr>
          <a:xfrm>
            <a:off x="6227899" y="2586038"/>
            <a:ext cx="2483904" cy="546497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count and avg rating per genre</a:t>
            </a:r>
            <a:endParaRPr lang="en-US" sz="942" dirty="0"/>
          </a:p>
        </p:txBody>
      </p:sp>
      <p:sp>
        <p:nvSpPr>
          <p:cNvPr id="23" name="Text 20"/>
          <p:cNvSpPr/>
          <p:nvPr/>
        </p:nvSpPr>
        <p:spPr>
          <a:xfrm>
            <a:off x="432197" y="3132534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/analytics/top-tags</a:t>
            </a:r>
            <a:endParaRPr lang="en-US" sz="942" dirty="0"/>
          </a:p>
        </p:txBody>
      </p:sp>
      <p:sp>
        <p:nvSpPr>
          <p:cNvPr id="24" name="Text 21"/>
          <p:cNvSpPr/>
          <p:nvPr/>
        </p:nvSpPr>
        <p:spPr>
          <a:xfrm>
            <a:off x="3330048" y="3132534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func.count, group_by</a:t>
            </a:r>
            <a:endParaRPr lang="en-US" sz="942" dirty="0"/>
          </a:p>
        </p:txBody>
      </p:sp>
      <p:sp>
        <p:nvSpPr>
          <p:cNvPr id="25" name="Text 22"/>
          <p:cNvSpPr/>
          <p:nvPr/>
        </p:nvSpPr>
        <p:spPr>
          <a:xfrm>
            <a:off x="6227899" y="3132534"/>
            <a:ext cx="2483904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frequently used tags</a:t>
            </a:r>
            <a:endParaRPr lang="en-US" sz="942" dirty="0"/>
          </a:p>
        </p:txBody>
      </p:sp>
      <p:sp>
        <p:nvSpPr>
          <p:cNvPr id="26" name="Shape 23"/>
          <p:cNvSpPr/>
          <p:nvPr/>
        </p:nvSpPr>
        <p:spPr>
          <a:xfrm>
            <a:off x="432197" y="3536156"/>
            <a:ext cx="8279606" cy="403622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432197" y="3536156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/analytics/mood-distribution</a:t>
            </a:r>
            <a:endParaRPr lang="en-US" sz="942" dirty="0"/>
          </a:p>
        </p:txBody>
      </p:sp>
      <p:sp>
        <p:nvSpPr>
          <p:cNvPr id="28" name="Text 25"/>
          <p:cNvSpPr/>
          <p:nvPr/>
        </p:nvSpPr>
        <p:spPr>
          <a:xfrm>
            <a:off x="3330048" y="3536156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func.count, group_by</a:t>
            </a:r>
            <a:endParaRPr lang="en-US" sz="942" dirty="0"/>
          </a:p>
        </p:txBody>
      </p:sp>
      <p:sp>
        <p:nvSpPr>
          <p:cNvPr id="29" name="Text 26"/>
          <p:cNvSpPr/>
          <p:nvPr/>
        </p:nvSpPr>
        <p:spPr>
          <a:xfrm>
            <a:off x="6227899" y="3536156"/>
            <a:ext cx="2483904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count per mood category</a:t>
            </a:r>
            <a:endParaRPr lang="en-US" sz="942" dirty="0"/>
          </a:p>
        </p:txBody>
      </p:sp>
      <p:sp>
        <p:nvSpPr>
          <p:cNvPr id="30" name="Text 27"/>
          <p:cNvSpPr/>
          <p:nvPr/>
        </p:nvSpPr>
        <p:spPr>
          <a:xfrm>
            <a:off x="432197" y="3939778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/analytics/review-activity</a:t>
            </a:r>
            <a:endParaRPr lang="en-US" sz="942" dirty="0"/>
          </a:p>
        </p:txBody>
      </p:sp>
      <p:sp>
        <p:nvSpPr>
          <p:cNvPr id="31" name="Text 28"/>
          <p:cNvSpPr/>
          <p:nvPr/>
        </p:nvSpPr>
        <p:spPr>
          <a:xfrm>
            <a:off x="3330048" y="3939778"/>
            <a:ext cx="2897851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func.count, func.avg</a:t>
            </a:r>
            <a:endParaRPr lang="en-US" sz="942" dirty="0"/>
          </a:p>
        </p:txBody>
      </p:sp>
      <p:sp>
        <p:nvSpPr>
          <p:cNvPr id="32" name="Text 29"/>
          <p:cNvSpPr/>
          <p:nvPr/>
        </p:nvSpPr>
        <p:spPr>
          <a:xfrm>
            <a:off x="6227899" y="3939778"/>
            <a:ext cx="2483904" cy="403622"/>
          </a:xfrm>
          <a:prstGeom prst="rect">
            <a:avLst/>
          </a:prstGeom>
          <a:noFill/>
          <a:ln/>
        </p:spPr>
        <p:txBody>
          <a:bodyPr wrap="square" lIns="204089" tIns="136017" rIns="204089" bIns="136017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Per-reviewer stats and totals</a:t>
            </a:r>
            <a:endParaRPr lang="en-US" sz="942" dirty="0"/>
          </a:p>
        </p:txBody>
      </p:sp>
      <p:sp>
        <p:nvSpPr>
          <p:cNvPr id="33" name="Shape 30"/>
          <p:cNvSpPr/>
          <p:nvPr/>
        </p:nvSpPr>
        <p:spPr>
          <a:xfrm>
            <a:off x="0" y="485775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34" name="Shape 31"/>
          <p:cNvSpPr/>
          <p:nvPr/>
        </p:nvSpPr>
        <p:spPr>
          <a:xfrm>
            <a:off x="0" y="4857750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35" name="Text 32"/>
          <p:cNvSpPr/>
          <p:nvPr/>
        </p:nvSpPr>
        <p:spPr>
          <a:xfrm>
            <a:off x="285750" y="4935438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36" name="Text 33"/>
          <p:cNvSpPr/>
          <p:nvPr/>
        </p:nvSpPr>
        <p:spPr>
          <a:xfrm>
            <a:off x="8129588" y="4935438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7 / 10</a:t>
            </a:r>
            <a:endParaRPr lang="en-US" sz="72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188237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~/xjco3011/coursework1/tests.py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703659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98226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00063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Testing &amp; Quality Assurance</a:t>
            </a:r>
            <a:endParaRPr lang="en-US" sz="2016" dirty="0"/>
          </a:p>
        </p:txBody>
      </p:sp>
      <p:sp>
        <p:nvSpPr>
          <p:cNvPr id="9" name="Text 6"/>
          <p:cNvSpPr/>
          <p:nvPr/>
        </p:nvSpPr>
        <p:spPr>
          <a:xfrm>
            <a:off x="285750" y="1096566"/>
            <a:ext cx="8572500" cy="173236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 tests across 9 classes achieve comprehensive coverage with all tests passing.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89322" y="1387673"/>
            <a:ext cx="1759734" cy="31789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289322" y="1387673"/>
            <a:ext cx="1759734" cy="317897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 Class</a:t>
            </a:r>
            <a:endParaRPr lang="en-US" sz="885" dirty="0"/>
          </a:p>
        </p:txBody>
      </p:sp>
      <p:sp>
        <p:nvSpPr>
          <p:cNvPr id="12" name="Shape 9"/>
          <p:cNvSpPr/>
          <p:nvPr/>
        </p:nvSpPr>
        <p:spPr>
          <a:xfrm>
            <a:off x="2046684" y="1387673"/>
            <a:ext cx="1760934" cy="31789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046684" y="1387673"/>
            <a:ext cx="1760934" cy="317897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Tests</a:t>
            </a:r>
            <a:endParaRPr lang="en-US" sz="885" dirty="0"/>
          </a:p>
        </p:txBody>
      </p:sp>
      <p:sp>
        <p:nvSpPr>
          <p:cNvPr id="14" name="Shape 11"/>
          <p:cNvSpPr/>
          <p:nvPr/>
        </p:nvSpPr>
        <p:spPr>
          <a:xfrm>
            <a:off x="3807619" y="1387673"/>
            <a:ext cx="1760934" cy="317897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807619" y="1387673"/>
            <a:ext cx="1760934" cy="317897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Coverage Area</a:t>
            </a:r>
            <a:endParaRPr lang="en-US" sz="885" dirty="0"/>
          </a:p>
        </p:txBody>
      </p:sp>
      <p:sp>
        <p:nvSpPr>
          <p:cNvPr id="16" name="Text 13"/>
          <p:cNvSpPr/>
          <p:nvPr/>
        </p:nvSpPr>
        <p:spPr>
          <a:xfrm>
            <a:off x="289322" y="1698427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TestGeneralEndpoints</a:t>
            </a:r>
            <a:endParaRPr lang="en-US" sz="834" dirty="0"/>
          </a:p>
        </p:txBody>
      </p:sp>
      <p:sp>
        <p:nvSpPr>
          <p:cNvPr id="17" name="Text 14"/>
          <p:cNvSpPr/>
          <p:nvPr/>
        </p:nvSpPr>
        <p:spPr>
          <a:xfrm>
            <a:off x="2187048" y="1698427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2</a:t>
            </a:r>
            <a:endParaRPr lang="en-US" sz="834" dirty="0"/>
          </a:p>
        </p:txBody>
      </p:sp>
      <p:sp>
        <p:nvSpPr>
          <p:cNvPr id="18" name="Text 15"/>
          <p:cNvSpPr/>
          <p:nvPr/>
        </p:nvSpPr>
        <p:spPr>
          <a:xfrm>
            <a:off x="3000347" y="1698427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Root and health endpoints</a:t>
            </a:r>
            <a:endParaRPr lang="en-US" sz="834" dirty="0"/>
          </a:p>
        </p:txBody>
      </p:sp>
      <p:sp>
        <p:nvSpPr>
          <p:cNvPr id="19" name="Shape 16"/>
          <p:cNvSpPr/>
          <p:nvPr/>
        </p:nvSpPr>
        <p:spPr>
          <a:xfrm>
            <a:off x="285750" y="2002036"/>
            <a:ext cx="5429250" cy="307181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0" name="Text 17"/>
          <p:cNvSpPr/>
          <p:nvPr/>
        </p:nvSpPr>
        <p:spPr>
          <a:xfrm>
            <a:off x="289322" y="2005608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TestGenreEndpoints</a:t>
            </a:r>
            <a:endParaRPr lang="en-US" sz="834" dirty="0"/>
          </a:p>
        </p:txBody>
      </p:sp>
      <p:sp>
        <p:nvSpPr>
          <p:cNvPr id="21" name="Text 18"/>
          <p:cNvSpPr/>
          <p:nvPr/>
        </p:nvSpPr>
        <p:spPr>
          <a:xfrm>
            <a:off x="2187048" y="2005608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3</a:t>
            </a:r>
            <a:endParaRPr lang="en-US" sz="834" dirty="0"/>
          </a:p>
        </p:txBody>
      </p:sp>
      <p:sp>
        <p:nvSpPr>
          <p:cNvPr id="22" name="Text 19"/>
          <p:cNvSpPr/>
          <p:nvPr/>
        </p:nvSpPr>
        <p:spPr>
          <a:xfrm>
            <a:off x="3000347" y="2005608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Genre listing and lookup</a:t>
            </a:r>
            <a:endParaRPr lang="en-US" sz="834" dirty="0"/>
          </a:p>
        </p:txBody>
      </p:sp>
      <p:sp>
        <p:nvSpPr>
          <p:cNvPr id="23" name="Text 20"/>
          <p:cNvSpPr/>
          <p:nvPr/>
        </p:nvSpPr>
        <p:spPr>
          <a:xfrm>
            <a:off x="289322" y="2312789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TestTrackEndpoints</a:t>
            </a:r>
            <a:endParaRPr lang="en-US" sz="834" dirty="0"/>
          </a:p>
        </p:txBody>
      </p:sp>
      <p:sp>
        <p:nvSpPr>
          <p:cNvPr id="24" name="Text 21"/>
          <p:cNvSpPr/>
          <p:nvPr/>
        </p:nvSpPr>
        <p:spPr>
          <a:xfrm>
            <a:off x="2187048" y="2312789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8</a:t>
            </a:r>
            <a:endParaRPr lang="en-US" sz="834" dirty="0"/>
          </a:p>
        </p:txBody>
      </p:sp>
      <p:sp>
        <p:nvSpPr>
          <p:cNvPr id="25" name="Text 22"/>
          <p:cNvSpPr/>
          <p:nvPr/>
        </p:nvSpPr>
        <p:spPr>
          <a:xfrm>
            <a:off x="3000347" y="2312789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Browsing, filtering, pagination</a:t>
            </a:r>
            <a:endParaRPr lang="en-US" sz="834" dirty="0"/>
          </a:p>
        </p:txBody>
      </p:sp>
      <p:sp>
        <p:nvSpPr>
          <p:cNvPr id="26" name="Shape 23"/>
          <p:cNvSpPr/>
          <p:nvPr/>
        </p:nvSpPr>
        <p:spPr>
          <a:xfrm>
            <a:off x="285750" y="2616398"/>
            <a:ext cx="5429250" cy="307181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27" name="Text 24"/>
          <p:cNvSpPr/>
          <p:nvPr/>
        </p:nvSpPr>
        <p:spPr>
          <a:xfrm>
            <a:off x="289322" y="2619970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TestReviewCRUD</a:t>
            </a:r>
            <a:endParaRPr lang="en-US" sz="834" dirty="0"/>
          </a:p>
        </p:txBody>
      </p:sp>
      <p:sp>
        <p:nvSpPr>
          <p:cNvPr id="28" name="Text 25"/>
          <p:cNvSpPr/>
          <p:nvPr/>
        </p:nvSpPr>
        <p:spPr>
          <a:xfrm>
            <a:off x="2187048" y="2619970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9</a:t>
            </a:r>
            <a:endParaRPr lang="en-US" sz="834" dirty="0"/>
          </a:p>
        </p:txBody>
      </p:sp>
      <p:sp>
        <p:nvSpPr>
          <p:cNvPr id="29" name="Text 26"/>
          <p:cNvSpPr/>
          <p:nvPr/>
        </p:nvSpPr>
        <p:spPr>
          <a:xfrm>
            <a:off x="3000347" y="2619970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 lifecycle + error cases</a:t>
            </a:r>
            <a:endParaRPr lang="en-US" sz="834" dirty="0"/>
          </a:p>
        </p:txBody>
      </p:sp>
      <p:sp>
        <p:nvSpPr>
          <p:cNvPr id="30" name="Text 27"/>
          <p:cNvSpPr/>
          <p:nvPr/>
        </p:nvSpPr>
        <p:spPr>
          <a:xfrm>
            <a:off x="289322" y="2927152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TestTagEndpoints</a:t>
            </a:r>
            <a:endParaRPr lang="en-US" sz="834" dirty="0"/>
          </a:p>
        </p:txBody>
      </p:sp>
      <p:sp>
        <p:nvSpPr>
          <p:cNvPr id="31" name="Text 28"/>
          <p:cNvSpPr/>
          <p:nvPr/>
        </p:nvSpPr>
        <p:spPr>
          <a:xfrm>
            <a:off x="2187048" y="2927152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7</a:t>
            </a:r>
            <a:endParaRPr lang="en-US" sz="834" dirty="0"/>
          </a:p>
        </p:txBody>
      </p:sp>
      <p:sp>
        <p:nvSpPr>
          <p:cNvPr id="32" name="Text 29"/>
          <p:cNvSpPr/>
          <p:nvPr/>
        </p:nvSpPr>
        <p:spPr>
          <a:xfrm>
            <a:off x="3000347" y="2927152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 CRUD + duplicate handling</a:t>
            </a:r>
            <a:endParaRPr lang="en-US" sz="834" dirty="0"/>
          </a:p>
        </p:txBody>
      </p:sp>
      <p:sp>
        <p:nvSpPr>
          <p:cNvPr id="33" name="Shape 30"/>
          <p:cNvSpPr/>
          <p:nvPr/>
        </p:nvSpPr>
        <p:spPr>
          <a:xfrm>
            <a:off x="285750" y="3230761"/>
            <a:ext cx="5429250" cy="307181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34" name="Text 31"/>
          <p:cNvSpPr/>
          <p:nvPr/>
        </p:nvSpPr>
        <p:spPr>
          <a:xfrm>
            <a:off x="289322" y="3234333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TestCollectionEndpoints</a:t>
            </a:r>
            <a:endParaRPr lang="en-US" sz="834" dirty="0"/>
          </a:p>
        </p:txBody>
      </p:sp>
      <p:sp>
        <p:nvSpPr>
          <p:cNvPr id="35" name="Text 32"/>
          <p:cNvSpPr/>
          <p:nvPr/>
        </p:nvSpPr>
        <p:spPr>
          <a:xfrm>
            <a:off x="2187048" y="3234333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9</a:t>
            </a:r>
            <a:endParaRPr lang="en-US" sz="834" dirty="0"/>
          </a:p>
        </p:txBody>
      </p:sp>
      <p:sp>
        <p:nvSpPr>
          <p:cNvPr id="36" name="Text 33"/>
          <p:cNvSpPr/>
          <p:nvPr/>
        </p:nvSpPr>
        <p:spPr>
          <a:xfrm>
            <a:off x="3000347" y="3234333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Collection management + items</a:t>
            </a:r>
            <a:endParaRPr lang="en-US" sz="834" dirty="0"/>
          </a:p>
        </p:txBody>
      </p:sp>
      <p:sp>
        <p:nvSpPr>
          <p:cNvPr id="37" name="Text 34"/>
          <p:cNvSpPr/>
          <p:nvPr/>
        </p:nvSpPr>
        <p:spPr>
          <a:xfrm>
            <a:off x="289322" y="3541514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TestAnalyticsEndpoints</a:t>
            </a:r>
            <a:endParaRPr lang="en-US" sz="834" dirty="0"/>
          </a:p>
        </p:txBody>
      </p:sp>
      <p:sp>
        <p:nvSpPr>
          <p:cNvPr id="38" name="Text 35"/>
          <p:cNvSpPr/>
          <p:nvPr/>
        </p:nvSpPr>
        <p:spPr>
          <a:xfrm>
            <a:off x="2187048" y="3541514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5</a:t>
            </a:r>
            <a:endParaRPr lang="en-US" sz="834" dirty="0"/>
          </a:p>
        </p:txBody>
      </p:sp>
      <p:sp>
        <p:nvSpPr>
          <p:cNvPr id="39" name="Text 36"/>
          <p:cNvSpPr/>
          <p:nvPr/>
        </p:nvSpPr>
        <p:spPr>
          <a:xfrm>
            <a:off x="3000347" y="3541514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5 analytics endpoints</a:t>
            </a:r>
            <a:endParaRPr lang="en-US" sz="834" dirty="0"/>
          </a:p>
        </p:txBody>
      </p:sp>
      <p:sp>
        <p:nvSpPr>
          <p:cNvPr id="40" name="Shape 37"/>
          <p:cNvSpPr/>
          <p:nvPr/>
        </p:nvSpPr>
        <p:spPr>
          <a:xfrm>
            <a:off x="285750" y="3845123"/>
            <a:ext cx="5429250" cy="307181"/>
          </a:xfrm>
          <a:prstGeom prst="rect">
            <a:avLst/>
          </a:prstGeom>
          <a:solidFill>
            <a:srgbClr val="010409">
              <a:alpha val="30000"/>
            </a:srgbClr>
          </a:solidFill>
          <a:ln/>
        </p:spPr>
      </p:sp>
      <p:sp>
        <p:nvSpPr>
          <p:cNvPr id="41" name="Text 38"/>
          <p:cNvSpPr/>
          <p:nvPr/>
        </p:nvSpPr>
        <p:spPr>
          <a:xfrm>
            <a:off x="289322" y="3848695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TestAuthentication</a:t>
            </a:r>
            <a:endParaRPr lang="en-US" sz="834" dirty="0"/>
          </a:p>
        </p:txBody>
      </p:sp>
      <p:sp>
        <p:nvSpPr>
          <p:cNvPr id="42" name="Text 39"/>
          <p:cNvSpPr/>
          <p:nvPr/>
        </p:nvSpPr>
        <p:spPr>
          <a:xfrm>
            <a:off x="2187048" y="3848695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6</a:t>
            </a:r>
            <a:endParaRPr lang="en-US" sz="834" dirty="0"/>
          </a:p>
        </p:txBody>
      </p:sp>
      <p:sp>
        <p:nvSpPr>
          <p:cNvPr id="43" name="Text 40"/>
          <p:cNvSpPr/>
          <p:nvPr/>
        </p:nvSpPr>
        <p:spPr>
          <a:xfrm>
            <a:off x="3000347" y="3848695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validation (401, 403)</a:t>
            </a:r>
            <a:endParaRPr lang="en-US" sz="834" dirty="0"/>
          </a:p>
        </p:txBody>
      </p:sp>
      <p:sp>
        <p:nvSpPr>
          <p:cNvPr id="44" name="Text 41"/>
          <p:cNvSpPr/>
          <p:nvPr/>
        </p:nvSpPr>
        <p:spPr>
          <a:xfrm>
            <a:off x="289322" y="4155877"/>
            <a:ext cx="1897726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TestValidation</a:t>
            </a:r>
            <a:endParaRPr lang="en-US" sz="834" dirty="0"/>
          </a:p>
        </p:txBody>
      </p:sp>
      <p:sp>
        <p:nvSpPr>
          <p:cNvPr id="45" name="Text 42"/>
          <p:cNvSpPr/>
          <p:nvPr/>
        </p:nvSpPr>
        <p:spPr>
          <a:xfrm>
            <a:off x="2187048" y="4155877"/>
            <a:ext cx="813299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6</a:t>
            </a:r>
            <a:endParaRPr lang="en-US" sz="834" dirty="0"/>
          </a:p>
        </p:txBody>
      </p:sp>
      <p:sp>
        <p:nvSpPr>
          <p:cNvPr id="46" name="Text 43"/>
          <p:cNvSpPr/>
          <p:nvPr/>
        </p:nvSpPr>
        <p:spPr>
          <a:xfrm>
            <a:off x="3000347" y="4155877"/>
            <a:ext cx="2711081" cy="300038"/>
          </a:xfrm>
          <a:prstGeom prst="rect">
            <a:avLst/>
          </a:prstGeom>
          <a:noFill/>
          <a:ln/>
        </p:spPr>
        <p:txBody>
          <a:bodyPr wrap="square" lIns="170053" tIns="85090" rIns="170053" bIns="85090" rtlCol="0" anchor="ctr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Input edge cases + structured errors</a:t>
            </a:r>
            <a:endParaRPr lang="en-US" sz="834" dirty="0"/>
          </a:p>
        </p:txBody>
      </p:sp>
      <p:sp>
        <p:nvSpPr>
          <p:cNvPr id="47" name="Shape 44"/>
          <p:cNvSpPr/>
          <p:nvPr/>
        </p:nvSpPr>
        <p:spPr>
          <a:xfrm>
            <a:off x="5857875" y="1384102"/>
            <a:ext cx="3000375" cy="1557338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5972175" y="1469827"/>
            <a:ext cx="27717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$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pytest -v</a:t>
            </a:r>
            <a:endParaRPr lang="en-US" sz="834" dirty="0"/>
          </a:p>
        </p:txBody>
      </p:sp>
      <p:sp>
        <p:nvSpPr>
          <p:cNvPr id="49" name="Text 46"/>
          <p:cNvSpPr/>
          <p:nvPr/>
        </p:nvSpPr>
        <p:spPr>
          <a:xfrm>
            <a:off x="5972175" y="1641277"/>
            <a:ext cx="2771775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============================= test session starts ==============================</a:t>
            </a:r>
            <a:endParaRPr lang="en-US" sz="834" dirty="0"/>
          </a:p>
        </p:txBody>
      </p:sp>
      <p:sp>
        <p:nvSpPr>
          <p:cNvPr id="50" name="Text 47"/>
          <p:cNvSpPr/>
          <p:nvPr/>
        </p:nvSpPr>
        <p:spPr>
          <a:xfrm>
            <a:off x="5972175" y="2155627"/>
            <a:ext cx="27717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collected 55 items</a:t>
            </a:r>
            <a:endParaRPr lang="en-US" sz="834" dirty="0"/>
          </a:p>
        </p:txBody>
      </p:sp>
      <p:sp>
        <p:nvSpPr>
          <p:cNvPr id="51" name="Text 48"/>
          <p:cNvSpPr/>
          <p:nvPr/>
        </p:nvSpPr>
        <p:spPr>
          <a:xfrm>
            <a:off x="5972175" y="2327077"/>
            <a:ext cx="2771775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834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...</a:t>
            </a:r>
            <a:endParaRPr lang="en-US" sz="834" dirty="0"/>
          </a:p>
        </p:txBody>
      </p:sp>
      <p:sp>
        <p:nvSpPr>
          <p:cNvPr id="52" name="Text 49"/>
          <p:cNvSpPr/>
          <p:nvPr/>
        </p:nvSpPr>
        <p:spPr>
          <a:xfrm>
            <a:off x="5972175" y="2498527"/>
            <a:ext cx="27717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784" b="1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============================== 55 passed in 0.85s ==============================</a:t>
            </a:r>
            <a:endParaRPr lang="en-US" sz="784" dirty="0"/>
          </a:p>
        </p:txBody>
      </p:sp>
      <p:sp>
        <p:nvSpPr>
          <p:cNvPr id="53" name="Shape 50"/>
          <p:cNvSpPr/>
          <p:nvPr/>
        </p:nvSpPr>
        <p:spPr>
          <a:xfrm>
            <a:off x="0" y="485775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54" name="Shape 51"/>
          <p:cNvSpPr/>
          <p:nvPr/>
        </p:nvSpPr>
        <p:spPr>
          <a:xfrm>
            <a:off x="0" y="4857750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5" name="Text 52"/>
          <p:cNvSpPr/>
          <p:nvPr/>
        </p:nvSpPr>
        <p:spPr>
          <a:xfrm>
            <a:off x="285750" y="4935438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56" name="Text 53"/>
          <p:cNvSpPr/>
          <p:nvPr/>
        </p:nvSpPr>
        <p:spPr>
          <a:xfrm>
            <a:off x="8129588" y="4935438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8 / 10</a:t>
            </a:r>
            <a:endParaRPr lang="en-US" sz="727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343469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307431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~/xjco3011/coursework1/deliverables.md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810816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89422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71500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Version Control &amp; Deliverables</a:t>
            </a:r>
            <a:endParaRPr lang="en-US" sz="2016" dirty="0"/>
          </a:p>
        </p:txBody>
      </p:sp>
      <p:sp>
        <p:nvSpPr>
          <p:cNvPr id="9" name="Shape 6"/>
          <p:cNvSpPr/>
          <p:nvPr/>
        </p:nvSpPr>
        <p:spPr>
          <a:xfrm>
            <a:off x="428625" y="1232297"/>
            <a:ext cx="8286750" cy="1017984"/>
          </a:xfrm>
          <a:prstGeom prst="rect">
            <a:avLst/>
          </a:prstGeom>
          <a:solidFill>
            <a:srgbClr val="010409"/>
          </a:solidFill>
          <a:ln w="9144">
            <a:solidFill>
              <a:srgbClr val="30363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4350" y="1318022"/>
            <a:ext cx="1071563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GitHub:</a:t>
            </a:r>
            <a:endParaRPr lang="en-US" sz="987" dirty="0"/>
          </a:p>
        </p:txBody>
      </p:sp>
      <p:sp>
        <p:nvSpPr>
          <p:cNvPr id="11" name="Text 8"/>
          <p:cNvSpPr/>
          <p:nvPr/>
        </p:nvSpPr>
        <p:spPr>
          <a:xfrm>
            <a:off x="1585913" y="1318022"/>
            <a:ext cx="480060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github.com/15934396020/music-appreciation-api-coursework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14350" y="1591270"/>
            <a:ext cx="1071563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87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Live:</a:t>
            </a:r>
            <a:endParaRPr lang="en-US" sz="987" dirty="0"/>
          </a:p>
        </p:txBody>
      </p:sp>
      <p:sp>
        <p:nvSpPr>
          <p:cNvPr id="13" name="Text 10"/>
          <p:cNvSpPr/>
          <p:nvPr/>
        </p:nvSpPr>
        <p:spPr>
          <a:xfrm>
            <a:off x="1585913" y="1591270"/>
            <a:ext cx="2914650" cy="18752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weidademiaoxiao.pythonanywhere.com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14350" y="1921669"/>
            <a:ext cx="8115300" cy="228600"/>
          </a:xfrm>
          <a:prstGeom prst="rect">
            <a:avLst/>
          </a:prstGeom>
          <a:noFill/>
          <a:ln/>
        </p:spPr>
        <p:txBody>
          <a:bodyPr wrap="square" lIns="0" tIns="85090" rIns="0" bIns="0" rtlCol="0" anchor="t">
            <a:spAutoFit/>
          </a:bodyPr>
          <a:lstStyle/>
          <a:p>
            <a:pPr algn="l" indent="0" marL="0">
              <a:lnSpc>
                <a:spcPts val="1100"/>
              </a:lnSpc>
              <a:buNone/>
            </a:pPr>
            <a:r>
              <a:rPr lang="en-US" sz="834" i="1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// Consistent commit history across 4+ development sessions.</a:t>
            </a:r>
            <a:endParaRPr lang="en-US" sz="834" dirty="0"/>
          </a:p>
        </p:txBody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625" y="2405658"/>
            <a:ext cx="171450" cy="17145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685800" y="2378869"/>
            <a:ext cx="2278856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D2A8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Deliverables Checklist</a:t>
            </a:r>
            <a:endParaRPr lang="en-US" sz="1269" dirty="0"/>
          </a:p>
        </p:txBody>
      </p:sp>
      <p:sp>
        <p:nvSpPr>
          <p:cNvPr id="17" name="Shape 13"/>
          <p:cNvSpPr/>
          <p:nvPr/>
        </p:nvSpPr>
        <p:spPr>
          <a:xfrm>
            <a:off x="428625" y="2689622"/>
            <a:ext cx="4100513" cy="730783"/>
          </a:xfrm>
          <a:prstGeom prst="rect">
            <a:avLst/>
          </a:prstGeom>
          <a:solidFill>
            <a:srgbClr val="010409">
              <a:alpha val="50000"/>
            </a:srgbClr>
          </a:solidFill>
          <a:ln w="9144">
            <a:solidFill>
              <a:srgbClr val="30363D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350" y="2775347"/>
            <a:ext cx="150019" cy="17145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50094" y="2775347"/>
            <a:ext cx="3693319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Technical Report</a:t>
            </a:r>
            <a:endParaRPr lang="en-US" sz="885" dirty="0"/>
          </a:p>
        </p:txBody>
      </p:sp>
      <p:sp>
        <p:nvSpPr>
          <p:cNvPr id="20" name="Text 15"/>
          <p:cNvSpPr/>
          <p:nvPr/>
        </p:nvSpPr>
        <p:spPr>
          <a:xfrm>
            <a:off x="750094" y="3000375"/>
            <a:ext cx="3693319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LaTeX → PDF, 5 pages covering design, implementation, and testing.</a:t>
            </a:r>
            <a:endParaRPr lang="en-US" sz="834" dirty="0"/>
          </a:p>
        </p:txBody>
      </p:sp>
      <p:sp>
        <p:nvSpPr>
          <p:cNvPr id="21" name="Shape 16"/>
          <p:cNvSpPr/>
          <p:nvPr/>
        </p:nvSpPr>
        <p:spPr>
          <a:xfrm>
            <a:off x="4614863" y="2689622"/>
            <a:ext cx="4100513" cy="730783"/>
          </a:xfrm>
          <a:prstGeom prst="rect">
            <a:avLst/>
          </a:prstGeom>
          <a:solidFill>
            <a:srgbClr val="010409">
              <a:alpha val="50000"/>
            </a:srgbClr>
          </a:solidFill>
          <a:ln w="9144">
            <a:solidFill>
              <a:srgbClr val="30363D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0588" y="2775347"/>
            <a:ext cx="150019" cy="17145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936331" y="2775347"/>
            <a:ext cx="3693319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API Documentation</a:t>
            </a:r>
            <a:endParaRPr lang="en-US" sz="885" dirty="0"/>
          </a:p>
        </p:txBody>
      </p:sp>
      <p:sp>
        <p:nvSpPr>
          <p:cNvPr id="24" name="Text 18"/>
          <p:cNvSpPr/>
          <p:nvPr/>
        </p:nvSpPr>
        <p:spPr>
          <a:xfrm>
            <a:off x="4936331" y="3000375"/>
            <a:ext cx="3693319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LaTeX → PDF, complete endpoint reference with colour-coded HTTP methods.</a:t>
            </a:r>
            <a:endParaRPr lang="en-US" sz="834" dirty="0"/>
          </a:p>
        </p:txBody>
      </p:sp>
      <p:sp>
        <p:nvSpPr>
          <p:cNvPr id="25" name="Shape 19"/>
          <p:cNvSpPr/>
          <p:nvPr/>
        </p:nvSpPr>
        <p:spPr>
          <a:xfrm>
            <a:off x="428625" y="3491843"/>
            <a:ext cx="4100513" cy="730783"/>
          </a:xfrm>
          <a:prstGeom prst="rect">
            <a:avLst/>
          </a:prstGeom>
          <a:solidFill>
            <a:srgbClr val="010409">
              <a:alpha val="50000"/>
            </a:srgbClr>
          </a:solidFill>
          <a:ln w="9144">
            <a:solidFill>
              <a:srgbClr val="30363D"/>
            </a:solidFill>
            <a:prstDash val="solid"/>
          </a:ln>
        </p:spPr>
      </p:sp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4350" y="3577568"/>
            <a:ext cx="150019" cy="171450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50094" y="3577568"/>
            <a:ext cx="3693319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Presentation Slides</a:t>
            </a:r>
            <a:endParaRPr lang="en-US" sz="885" dirty="0"/>
          </a:p>
        </p:txBody>
      </p:sp>
      <p:sp>
        <p:nvSpPr>
          <p:cNvPr id="28" name="Text 21"/>
          <p:cNvSpPr/>
          <p:nvPr/>
        </p:nvSpPr>
        <p:spPr>
          <a:xfrm>
            <a:off x="750094" y="3802596"/>
            <a:ext cx="3693319" cy="32001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PPTX format, 10 slides summarizing the project architecture and features.</a:t>
            </a:r>
            <a:endParaRPr lang="en-US" sz="834" dirty="0"/>
          </a:p>
        </p:txBody>
      </p:sp>
      <p:sp>
        <p:nvSpPr>
          <p:cNvPr id="29" name="Shape 22"/>
          <p:cNvSpPr/>
          <p:nvPr/>
        </p:nvSpPr>
        <p:spPr>
          <a:xfrm>
            <a:off x="4614863" y="3491843"/>
            <a:ext cx="4100513" cy="716496"/>
          </a:xfrm>
          <a:prstGeom prst="rect">
            <a:avLst/>
          </a:prstGeom>
          <a:solidFill>
            <a:srgbClr val="010409">
              <a:alpha val="50000"/>
            </a:srgbClr>
          </a:solidFill>
          <a:ln w="9144">
            <a:solidFill>
              <a:srgbClr val="30363D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0588" y="3577568"/>
            <a:ext cx="150019" cy="17145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4936331" y="3577568"/>
            <a:ext cx="3189684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GenAI Conversation Log</a:t>
            </a:r>
            <a:endParaRPr lang="en-US" sz="885" dirty="0"/>
          </a:p>
        </p:txBody>
      </p:sp>
      <p:sp>
        <p:nvSpPr>
          <p:cNvPr id="32" name="Text 24"/>
          <p:cNvSpPr/>
          <p:nvPr/>
        </p:nvSpPr>
        <p:spPr>
          <a:xfrm>
            <a:off x="4936331" y="3802596"/>
            <a:ext cx="3189684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PDF format, detailed AI usage documentation and prompts.</a:t>
            </a:r>
            <a:endParaRPr lang="en-US" sz="834" dirty="0"/>
          </a:p>
        </p:txBody>
      </p:sp>
      <p:sp>
        <p:nvSpPr>
          <p:cNvPr id="33" name="Shape 25"/>
          <p:cNvSpPr/>
          <p:nvPr/>
        </p:nvSpPr>
        <p:spPr>
          <a:xfrm>
            <a:off x="428625" y="4294063"/>
            <a:ext cx="8286750" cy="570774"/>
          </a:xfrm>
          <a:prstGeom prst="rect">
            <a:avLst/>
          </a:prstGeom>
          <a:solidFill>
            <a:srgbClr val="010409">
              <a:alpha val="50000"/>
            </a:srgbClr>
          </a:solidFill>
          <a:ln w="9144">
            <a:solidFill>
              <a:srgbClr val="30363D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4350" y="4379788"/>
            <a:ext cx="150019" cy="171450"/>
          </a:xfrm>
          <a:prstGeom prst="rect">
            <a:avLst/>
          </a:prstGeom>
        </p:spPr>
      </p:pic>
      <p:sp>
        <p:nvSpPr>
          <p:cNvPr id="35" name="Text 26"/>
          <p:cNvSpPr/>
          <p:nvPr/>
        </p:nvSpPr>
        <p:spPr>
          <a:xfrm>
            <a:off x="750094" y="4379788"/>
            <a:ext cx="3259336" cy="16787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885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README.md</a:t>
            </a:r>
            <a:endParaRPr lang="en-US" sz="885" dirty="0"/>
          </a:p>
        </p:txBody>
      </p:sp>
      <p:sp>
        <p:nvSpPr>
          <p:cNvPr id="36" name="Text 27"/>
          <p:cNvSpPr/>
          <p:nvPr/>
        </p:nvSpPr>
        <p:spPr>
          <a:xfrm>
            <a:off x="750094" y="4604817"/>
            <a:ext cx="3259336" cy="160009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834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instructions, endpoint overview, and project structure.</a:t>
            </a:r>
            <a:endParaRPr lang="en-US" sz="834" dirty="0"/>
          </a:p>
        </p:txBody>
      </p:sp>
      <p:sp>
        <p:nvSpPr>
          <p:cNvPr id="37" name="Shape 28"/>
          <p:cNvSpPr/>
          <p:nvPr/>
        </p:nvSpPr>
        <p:spPr>
          <a:xfrm>
            <a:off x="0" y="4993425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38" name="Shape 29"/>
          <p:cNvSpPr/>
          <p:nvPr/>
        </p:nvSpPr>
        <p:spPr>
          <a:xfrm>
            <a:off x="0" y="4993425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39" name="Text 30"/>
          <p:cNvSpPr/>
          <p:nvPr/>
        </p:nvSpPr>
        <p:spPr>
          <a:xfrm>
            <a:off x="285750" y="5071114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40" name="Text 31"/>
          <p:cNvSpPr/>
          <p:nvPr/>
        </p:nvSpPr>
        <p:spPr>
          <a:xfrm>
            <a:off x="8129588" y="5071114"/>
            <a:ext cx="728663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9 / 10</a:t>
            </a:r>
            <a:endParaRPr lang="en-US" sz="727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" name="Shape 1"/>
          <p:cNvSpPr/>
          <p:nvPr/>
        </p:nvSpPr>
        <p:spPr>
          <a:xfrm>
            <a:off x="0" y="278606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" name="Text 2"/>
          <p:cNvSpPr/>
          <p:nvPr/>
        </p:nvSpPr>
        <p:spPr>
          <a:xfrm>
            <a:off x="657225" y="77688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~/xjco3011/coursework1/conclusion.md</a:t>
            </a:r>
            <a:endParaRPr lang="en-US" sz="727" dirty="0"/>
          </a:p>
        </p:txBody>
      </p:sp>
      <p:sp>
        <p:nvSpPr>
          <p:cNvPr id="6" name="Shape 3"/>
          <p:cNvSpPr/>
          <p:nvPr/>
        </p:nvSpPr>
        <p:spPr>
          <a:xfrm>
            <a:off x="0" y="285750"/>
            <a:ext cx="9144000" cy="739378"/>
          </a:xfrm>
          <a:prstGeom prst="rect">
            <a:avLst/>
          </a:prstGeom>
          <a:solidFill>
            <a:srgbClr val="000000">
              <a:alpha val="0"/>
            </a:srgbClr>
          </a:solidFill>
          <a:ln/>
        </p:spPr>
      </p:sp>
      <p:sp>
        <p:nvSpPr>
          <p:cNvPr id="7" name="Shape 4"/>
          <p:cNvSpPr/>
          <p:nvPr/>
        </p:nvSpPr>
        <p:spPr>
          <a:xfrm>
            <a:off x="0" y="1017984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8" name="Text 5"/>
          <p:cNvSpPr/>
          <p:nvPr/>
        </p:nvSpPr>
        <p:spPr>
          <a:xfrm>
            <a:off x="428625" y="500063"/>
            <a:ext cx="8286750" cy="37504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2700"/>
              </a:lnSpc>
              <a:buNone/>
            </a:pPr>
            <a:r>
              <a:rPr lang="en-US" sz="2016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##</a:t>
            </a:r>
            <a:r>
              <a:rPr lang="en-US" sz="2016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Conclusion &amp; Future Work</a:t>
            </a:r>
            <a:endParaRPr lang="en-US" sz="2016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1259086"/>
            <a:ext cx="171450" cy="17145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2925" y="1232297"/>
            <a:ext cx="932259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7EE787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Strengths</a:t>
            </a:r>
            <a:endParaRPr lang="en-US" sz="1269" dirty="0"/>
          </a:p>
        </p:txBody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750" y="1628775"/>
            <a:ext cx="142875" cy="11430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14350" y="1600200"/>
            <a:ext cx="164484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Clean modular architecture</a:t>
            </a:r>
            <a:endParaRPr lang="en-US" sz="942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5750" y="1923092"/>
            <a:ext cx="142875" cy="1143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14350" y="1894517"/>
            <a:ext cx="1707356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 endpoints with full CRUD</a:t>
            </a:r>
            <a:endParaRPr lang="en-US" sz="942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5750" y="2217409"/>
            <a:ext cx="142875" cy="11430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514350" y="2188834"/>
            <a:ext cx="1355527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API key authentication</a:t>
            </a:r>
            <a:endParaRPr lang="en-US" sz="942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5750" y="2511726"/>
            <a:ext cx="142875" cy="114300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514350" y="2483151"/>
            <a:ext cx="153054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Structured error handling</a:t>
            </a:r>
            <a:endParaRPr lang="en-US" sz="942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5750" y="2806043"/>
            <a:ext cx="142875" cy="114300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514350" y="2777468"/>
            <a:ext cx="16716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55 passing automated tests</a:t>
            </a:r>
            <a:endParaRPr lang="en-US" sz="942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5750" y="3100360"/>
            <a:ext cx="142875" cy="11430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514350" y="3071785"/>
            <a:ext cx="1287661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analytics endpoints</a:t>
            </a:r>
            <a:endParaRPr lang="en-US" sz="942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85750" y="3394677"/>
            <a:ext cx="142875" cy="114300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514350" y="3366102"/>
            <a:ext cx="1523405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external deployment</a:t>
            </a:r>
            <a:endParaRPr lang="en-US" sz="942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333731" y="1259086"/>
            <a:ext cx="171450" cy="171450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3590906" y="1232297"/>
            <a:ext cx="1139428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FFBD2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Limitations</a:t>
            </a:r>
            <a:endParaRPr lang="en-US" sz="1269" dirty="0"/>
          </a:p>
        </p:txBody>
      </p:sp>
      <p:pic>
        <p:nvPicPr>
          <p:cNvPr id="27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33731" y="1628775"/>
            <a:ext cx="142875" cy="114300"/>
          </a:xfrm>
          <a:prstGeom prst="rect">
            <a:avLst/>
          </a:prstGeom>
        </p:spPr>
      </p:pic>
      <p:sp>
        <p:nvSpPr>
          <p:cNvPr id="28" name="Text 15"/>
          <p:cNvSpPr/>
          <p:nvPr/>
        </p:nvSpPr>
        <p:spPr>
          <a:xfrm>
            <a:off x="3562331" y="1600200"/>
            <a:ext cx="1314450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Single shared API key</a:t>
            </a:r>
            <a:endParaRPr lang="en-US" sz="942" dirty="0"/>
          </a:p>
        </p:txBody>
      </p:sp>
      <p:pic>
        <p:nvPicPr>
          <p:cNvPr id="2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33731" y="1923092"/>
            <a:ext cx="142875" cy="114300"/>
          </a:xfrm>
          <a:prstGeom prst="rect">
            <a:avLst/>
          </a:prstGeom>
        </p:spPr>
      </p:pic>
      <p:sp>
        <p:nvSpPr>
          <p:cNvPr id="30" name="Text 16"/>
          <p:cNvSpPr/>
          <p:nvPr/>
        </p:nvSpPr>
        <p:spPr>
          <a:xfrm>
            <a:off x="3562331" y="1894517"/>
            <a:ext cx="1821656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SQLite (not production-ready)</a:t>
            </a:r>
            <a:endParaRPr lang="en-US" sz="942" dirty="0"/>
          </a:p>
        </p:txBody>
      </p:sp>
      <p:pic>
        <p:nvPicPr>
          <p:cNvPr id="31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33731" y="2217409"/>
            <a:ext cx="142875" cy="114300"/>
          </a:xfrm>
          <a:prstGeom prst="rect">
            <a:avLst/>
          </a:prstGeom>
        </p:spPr>
      </p:pic>
      <p:sp>
        <p:nvSpPr>
          <p:cNvPr id="32" name="Text 17"/>
          <p:cNvSpPr/>
          <p:nvPr/>
        </p:nvSpPr>
        <p:spPr>
          <a:xfrm>
            <a:off x="3562331" y="2188834"/>
            <a:ext cx="1266230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Static seed data only</a:t>
            </a:r>
            <a:endParaRPr lang="en-US" sz="942" dirty="0"/>
          </a:p>
        </p:txBody>
      </p:sp>
      <p:pic>
        <p:nvPicPr>
          <p:cNvPr id="33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33731" y="2511726"/>
            <a:ext cx="142875" cy="114300"/>
          </a:xfrm>
          <a:prstGeom prst="rect">
            <a:avLst/>
          </a:prstGeom>
        </p:spPr>
      </p:pic>
      <p:sp>
        <p:nvSpPr>
          <p:cNvPr id="34" name="Text 18"/>
          <p:cNvSpPr/>
          <p:nvPr/>
        </p:nvSpPr>
        <p:spPr>
          <a:xfrm>
            <a:off x="3562331" y="2483151"/>
            <a:ext cx="912614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rate limiting</a:t>
            </a:r>
            <a:endParaRPr lang="en-US" sz="942" dirty="0"/>
          </a:p>
        </p:txBody>
      </p:sp>
      <p:pic>
        <p:nvPicPr>
          <p:cNvPr id="35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741" y="1259086"/>
            <a:ext cx="171450" cy="171450"/>
          </a:xfrm>
          <a:prstGeom prst="rect">
            <a:avLst/>
          </a:prstGeom>
        </p:spPr>
      </p:pic>
      <p:sp>
        <p:nvSpPr>
          <p:cNvPr id="36" name="Text 19"/>
          <p:cNvSpPr/>
          <p:nvPr/>
        </p:nvSpPr>
        <p:spPr>
          <a:xfrm>
            <a:off x="6638916" y="1232297"/>
            <a:ext cx="1139428" cy="225028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69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Future Work</a:t>
            </a:r>
            <a:endParaRPr lang="en-US" sz="1269" dirty="0"/>
          </a:p>
        </p:txBody>
      </p:sp>
      <p:pic>
        <p:nvPicPr>
          <p:cNvPr id="37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381741" y="1628775"/>
            <a:ext cx="142875" cy="114300"/>
          </a:xfrm>
          <a:prstGeom prst="rect">
            <a:avLst/>
          </a:prstGeom>
        </p:spPr>
      </p:pic>
      <p:sp>
        <p:nvSpPr>
          <p:cNvPr id="38" name="Text 20"/>
          <p:cNvSpPr/>
          <p:nvPr/>
        </p:nvSpPr>
        <p:spPr>
          <a:xfrm>
            <a:off x="6610341" y="1600200"/>
            <a:ext cx="1643063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OAuth2/JWT per-user auth</a:t>
            </a:r>
            <a:endParaRPr lang="en-US" sz="942" dirty="0"/>
          </a:p>
        </p:txBody>
      </p:sp>
      <p:pic>
        <p:nvPicPr>
          <p:cNvPr id="3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741" y="1923092"/>
            <a:ext cx="142875" cy="114300"/>
          </a:xfrm>
          <a:prstGeom prst="rect">
            <a:avLst/>
          </a:prstGeom>
        </p:spPr>
      </p:pic>
      <p:sp>
        <p:nvSpPr>
          <p:cNvPr id="40" name="Text 21"/>
          <p:cNvSpPr/>
          <p:nvPr/>
        </p:nvSpPr>
        <p:spPr>
          <a:xfrm>
            <a:off x="6610341" y="1894517"/>
            <a:ext cx="1325166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 migration</a:t>
            </a:r>
            <a:endParaRPr lang="en-US" sz="942" dirty="0"/>
          </a:p>
        </p:txBody>
      </p:sp>
      <p:pic>
        <p:nvPicPr>
          <p:cNvPr id="41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6381741" y="2217409"/>
            <a:ext cx="142875" cy="114300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6610341" y="2188834"/>
            <a:ext cx="1900238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Spotify/MusicBrainz integration</a:t>
            </a:r>
            <a:endParaRPr lang="en-US" sz="942" dirty="0"/>
          </a:p>
        </p:txBody>
      </p:sp>
      <p:pic>
        <p:nvPicPr>
          <p:cNvPr id="43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6381741" y="2511726"/>
            <a:ext cx="142875" cy="114300"/>
          </a:xfrm>
          <a:prstGeom prst="rect">
            <a:avLst/>
          </a:prstGeom>
        </p:spPr>
      </p:pic>
      <p:sp>
        <p:nvSpPr>
          <p:cNvPr id="44" name="Text 23"/>
          <p:cNvSpPr/>
          <p:nvPr/>
        </p:nvSpPr>
        <p:spPr>
          <a:xfrm>
            <a:off x="6610341" y="2483151"/>
            <a:ext cx="1584127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React frontend dashboard</a:t>
            </a:r>
            <a:endParaRPr lang="en-US" sz="942" dirty="0"/>
          </a:p>
        </p:txBody>
      </p:sp>
      <p:pic>
        <p:nvPicPr>
          <p:cNvPr id="45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381741" y="2806043"/>
            <a:ext cx="142875" cy="114300"/>
          </a:xfrm>
          <a:prstGeom prst="rect">
            <a:avLst/>
          </a:prstGeom>
        </p:spPr>
      </p:pic>
      <p:sp>
        <p:nvSpPr>
          <p:cNvPr id="46" name="Text 24"/>
          <p:cNvSpPr/>
          <p:nvPr/>
        </p:nvSpPr>
        <p:spPr>
          <a:xfrm>
            <a:off x="6610341" y="2777468"/>
            <a:ext cx="1439466" cy="180017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942" dirty="0">
                <a:solidFill>
                  <a:srgbClr val="C9D1D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containerisation</a:t>
            </a:r>
            <a:endParaRPr lang="en-US" sz="942" dirty="0"/>
          </a:p>
        </p:txBody>
      </p:sp>
      <p:sp>
        <p:nvSpPr>
          <p:cNvPr id="47" name="Shape 25"/>
          <p:cNvSpPr/>
          <p:nvPr/>
        </p:nvSpPr>
        <p:spPr>
          <a:xfrm>
            <a:off x="0" y="4084439"/>
            <a:ext cx="9144000" cy="773311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48" name="Shape 26"/>
          <p:cNvSpPr/>
          <p:nvPr/>
        </p:nvSpPr>
        <p:spPr>
          <a:xfrm>
            <a:off x="0" y="4084439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49" name="Text 27"/>
          <p:cNvSpPr/>
          <p:nvPr/>
        </p:nvSpPr>
        <p:spPr>
          <a:xfrm>
            <a:off x="0" y="4305895"/>
            <a:ext cx="9144000" cy="337542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808" b="1" dirty="0">
                <a:solidFill>
                  <a:srgbClr val="58A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return</a:t>
            </a:r>
            <a:r>
              <a:rPr lang="en-US" sz="1808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 </a:t>
            </a:r>
            <a:r>
              <a:rPr lang="en-US" sz="1808" b="1" dirty="0">
                <a:solidFill>
                  <a:srgbClr val="A5D6FF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"Thank you — Questions?"</a:t>
            </a:r>
            <a:r>
              <a:rPr lang="en-US" sz="1808" b="1" dirty="0">
                <a:solidFill>
                  <a:srgbClr val="E6EDF3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;</a:t>
            </a:r>
            <a:endParaRPr lang="en-US" sz="1808" dirty="0"/>
          </a:p>
        </p:txBody>
      </p:sp>
      <p:sp>
        <p:nvSpPr>
          <p:cNvPr id="50" name="Shape 28"/>
          <p:cNvSpPr/>
          <p:nvPr/>
        </p:nvSpPr>
        <p:spPr>
          <a:xfrm>
            <a:off x="0" y="4857750"/>
            <a:ext cx="9144000" cy="285750"/>
          </a:xfrm>
          <a:prstGeom prst="rect">
            <a:avLst/>
          </a:prstGeom>
          <a:solidFill>
            <a:srgbClr val="010409"/>
          </a:solidFill>
          <a:ln/>
        </p:spPr>
      </p:sp>
      <p:sp>
        <p:nvSpPr>
          <p:cNvPr id="51" name="Shape 29"/>
          <p:cNvSpPr/>
          <p:nvPr/>
        </p:nvSpPr>
        <p:spPr>
          <a:xfrm>
            <a:off x="0" y="4857750"/>
            <a:ext cx="9144000" cy="7144"/>
          </a:xfrm>
          <a:prstGeom prst="rect">
            <a:avLst/>
          </a:prstGeom>
          <a:solidFill>
            <a:srgbClr val="30363D"/>
          </a:solidFill>
          <a:ln/>
        </p:spPr>
      </p:sp>
      <p:sp>
        <p:nvSpPr>
          <p:cNvPr id="52" name="Text 30"/>
          <p:cNvSpPr/>
          <p:nvPr/>
        </p:nvSpPr>
        <p:spPr>
          <a:xfrm>
            <a:off x="285750" y="4935438"/>
            <a:ext cx="2185988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Music Appreciation and Discovery API</a:t>
            </a:r>
            <a:endParaRPr lang="en-US" sz="727" dirty="0"/>
          </a:p>
        </p:txBody>
      </p:sp>
      <p:sp>
        <p:nvSpPr>
          <p:cNvPr id="53" name="Text 31"/>
          <p:cNvSpPr/>
          <p:nvPr/>
        </p:nvSpPr>
        <p:spPr>
          <a:xfrm>
            <a:off x="8068866" y="4935438"/>
            <a:ext cx="789384" cy="130373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spAutoFit/>
          </a:bodyPr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27" dirty="0">
                <a:solidFill>
                  <a:srgbClr val="8B949E"/>
                </a:solidFill>
                <a:latin typeface="Fira Code" pitchFamily="34" charset="0"/>
                <a:ea typeface="Fira Code" pitchFamily="34" charset="-122"/>
                <a:cs typeface="Fira Code" pitchFamily="34" charset="-120"/>
              </a:rPr>
              <a:t>Slide 10 / 10</a:t>
            </a:r>
            <a:endParaRPr lang="en-US" sz="727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2026-04-17T10:13:54Z</dcterms:created>
  <dcterms:modified xsi:type="dcterms:W3CDTF">2026-04-17T10:13:54Z</dcterms:modified>
</cp:coreProperties>
</file>