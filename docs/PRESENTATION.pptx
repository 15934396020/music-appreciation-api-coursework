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Music Appreciation and Discovery API</a:t>
            </a:r>
          </a:p>
          <a:p>
            <a:pPr algn="ctr">
              <a:spcBef>
                <a:spcPts val="2000"/>
              </a:spcBef>
              <a:defRPr sz="2200">
                <a:solidFill>
                  <a:srgbClr val="D4E6F1"/>
                </a:solidFill>
              </a:defRPr>
            </a:pPr>
            <a:r>
              <a:t>XJCO3011 — Web Services and Web Data</a:t>
            </a:r>
          </a:p>
          <a:p>
            <a:pPr algn="ctr">
              <a:spcBef>
                <a:spcPts val="1000"/>
              </a:spcBef>
              <a:defRPr sz="1800">
                <a:solidFill>
                  <a:srgbClr val="D4E6F1"/>
                </a:solidFill>
              </a:defRPr>
            </a:pPr>
            <a:r>
              <a:t>Coursework 1: Individual Web Services API Development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67E22"/>
                </a:solidFill>
              </a:defRPr>
            </a:pPr>
            <a:r>
              <a:t>FastAPI  |  SQLAlchemy  |  SQLite  |  Pydantic  |  pytest</a:t>
            </a:r>
          </a:p>
          <a:p>
            <a:pPr algn="ctr">
              <a:spcBef>
                <a:spcPts val="1000"/>
              </a:spcBef>
              <a:defRPr sz="1400">
                <a:solidFill>
                  <a:srgbClr val="BBBBBB"/>
                </a:solidFill>
              </a:defRPr>
            </a:pPr>
            <a:r>
              <a:t>25 Endpoints  •  55 Tests  •  API Key Authentication  •  5 Analytics Endpoints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b="1" sz="2200">
                <a:solidFill>
                  <a:srgbClr val="2E86C1"/>
                </a:solidFill>
              </a:defRPr>
            </a:pPr>
            <a:r>
              <a:t>The Challenge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Music enthusiasts lack a structured way to catalogue listening experiences,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group tracks by mood or genre, and share meaningful reviews.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</a:t>
            </a:r>
          </a:p>
          <a:p>
            <a:pPr algn="l">
              <a:spcAft>
                <a:spcPts val="800"/>
              </a:spcAft>
              <a:defRPr b="1" sz="2200">
                <a:solidFill>
                  <a:srgbClr val="2E86C1"/>
                </a:solidFill>
              </a:defRPr>
            </a:pPr>
            <a:r>
              <a:t>Our Solution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A RESTful API that provides structured music metadata browsing,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full CRUD review management, user-defined tagging, collection building,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and analytical insights — all backed by a relational database.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</a:t>
            </a:r>
          </a:p>
          <a:p>
            <a:pPr algn="l">
              <a:spcAft>
                <a:spcPts val="800"/>
              </a:spcAft>
              <a:defRPr b="1" sz="2200">
                <a:solidFill>
                  <a:srgbClr val="2E86C1"/>
                </a:solidFill>
              </a:defRPr>
            </a:pPr>
            <a:r>
              <a:t>Design Philosophy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Deliberate scope control: focus on stability, testability, and explainability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rather than maximum technical complexity.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Scope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 Scope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Out of Scope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29 tracks across 8 genres (curated seed 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Audio playback / streaming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Full CRUD for reviews (Create, Read, Update, Delete)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Recommendation engine / ML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User tags and collection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External API integration (Spotify)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5 analytics endpoints with SQL aggregation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External deployment on PythonAnywhere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API key authentication for write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Per-user OAuth2/JWT (future 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55 automated tests across 9 test classes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Structured JSON error responses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Rate limiting (future 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 &amp; 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Justification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HTTP / Swagger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Interactive testing and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API Key (X-API-Key header)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Lightweight access control for write operations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FastAPI 0.115.12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High performance, auto OpenAPI docs, type hints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Pydantic 2.11.3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Strict payload validation with clear error messages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SQLAlchemy 2.0.40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Powerful querying for analytics without raw 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Zero-config setup, easy for examiners to run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pytest + httpx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Session-scoped fixtures, TestClient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Database Schema: 6 Entities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Fields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Relationships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Genre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id, name, 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One-to-many with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Track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id, title, artist, album, mood, avg_rating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Belongs to Genre; has Reviews, Tags, CollectionItems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id, track_id, reviewer, rating (1-5), comment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Belongs to Track; triggers rating recalculation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UserTag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id, track_id, tag_name, created_by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Belongs to Track; unique(track_id, tag_name)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id, name, description, created_by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Has many CollectionItems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CollectionItem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id, collection_id, track_id, note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Links Collection to Track; unique(collection_id, track_id)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API Endpoints: 25 Routes Across 7 Groups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6400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Endpoints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Auth Required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GET /, GET 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Genres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GET /genres, GET /genres/{id}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Tracks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GET /tracks (filters + pagination), GET /tracks/{id}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Reviews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POST, GET (list), GET (by ID), PUT, DELETE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POST/PUT/DELETE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POST /tags, GET /tags, DELETE /tags/{id}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POST/DELETE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Collections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POST, GET (list), GET (detail), POST (add item), DELETE (item), DELETE (collection)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POST/DELETE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top-rated-tracks, genre-summary, top-tags, mood-distribution, review-activity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Authentication &amp;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b="1" sz="2200">
                <a:solidFill>
                  <a:srgbClr val="2E86C1"/>
                </a:solidFill>
              </a:defRPr>
            </a:pPr>
            <a:r>
              <a:t>API Key Authentication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Write operations (POST, PUT, DELETE) require X-API-Key header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Read operations (GET) remain publicly accessible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401 Unauthorized for missing key, 403 Forbidden for invalid key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Demo key: music-api-demo-key-2026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</a:t>
            </a:r>
          </a:p>
          <a:p>
            <a:pPr algn="l">
              <a:spcAft>
                <a:spcPts val="800"/>
              </a:spcAft>
              <a:defRPr b="1" sz="2200">
                <a:solidFill>
                  <a:srgbClr val="2E86C1"/>
                </a:solidFill>
              </a:defRPr>
            </a:pPr>
            <a:r>
              <a:t>Structured Error Responses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All errors return consistent JSON: {"error": "...", "message": "...", "details": [...]}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Custom exception handlers for HTTP errors and validation errors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Machine-readable error codes (not_found, validation_error, conflict, etc.)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</a:t>
            </a:r>
          </a:p>
          <a:p>
            <a:pPr algn="l">
              <a:spcAft>
                <a:spcPts val="800"/>
              </a:spcAft>
              <a:defRPr b="1" sz="2200">
                <a:solidFill>
                  <a:srgbClr val="2E86C1"/>
                </a:solidFill>
              </a:defRPr>
            </a:pPr>
            <a:r>
              <a:t>Status Codes Used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200 OK, 201 Created, 204 No Content, 401 Unauthorized, 403 Forbidden, 404 Not Found, 409 Conflict, 422 Validation 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Review CRUD: Full Lifecycle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b="1" sz="2000">
                <a:solidFill>
                  <a:srgbClr val="27AE60"/>
                </a:solidFill>
              </a:defRPr>
            </a:pPr>
            <a:r>
              <a:t>CREATE — POST /reviews (with X-API-Key)</a:t>
            </a:r>
          </a:p>
          <a:p>
            <a:pPr algn="l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 Request: {"track_id": 1, "reviewer_name": "Alice", "rating": 5, "comment": "A masterpiece"}</a:t>
            </a:r>
          </a:p>
          <a:p>
            <a:pPr algn="l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 Response: 201 Created with full review object including auto-generated timestamps</a:t>
            </a:r>
          </a:p>
          <a:p>
            <a:pPr algn="l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</a:t>
            </a:r>
          </a:p>
          <a:p>
            <a:pPr algn="l">
              <a:spcAft>
                <a:spcPts val="800"/>
              </a:spcAft>
              <a:defRPr b="1" sz="2000">
                <a:solidFill>
                  <a:srgbClr val="2E86C1"/>
                </a:solidFill>
              </a:defRPr>
            </a:pPr>
            <a:r>
              <a:t>READ — GET /reviews?track_id=1&amp;min_rating=4</a:t>
            </a:r>
          </a:p>
          <a:p>
            <a:pPr algn="l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 Supports filtering by track_id, reviewer_name, min_rating with pagination</a:t>
            </a:r>
          </a:p>
          <a:p>
            <a:pPr algn="l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</a:t>
            </a:r>
          </a:p>
          <a:p>
            <a:pPr algn="l">
              <a:spcAft>
                <a:spcPts val="800"/>
              </a:spcAft>
              <a:defRPr b="1" sz="2000">
                <a:solidFill>
                  <a:srgbClr val="E67E22"/>
                </a:solidFill>
              </a:defRPr>
            </a:pPr>
            <a:r>
              <a:t>UPDATE — PUT /reviews/{id} (with X-API-Key)</a:t>
            </a:r>
          </a:p>
          <a:p>
            <a:pPr algn="l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 Request: {"rating": 4, "comment": "Updated opinion"} — partial update supported</a:t>
            </a:r>
          </a:p>
          <a:p>
            <a:pPr algn="l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 Automatically recalculates track average_rating via _refresh_track_rating()</a:t>
            </a:r>
          </a:p>
          <a:p>
            <a:pPr algn="l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</a:t>
            </a:r>
          </a:p>
          <a:p>
            <a:pPr algn="l">
              <a:spcAft>
                <a:spcPts val="800"/>
              </a:spcAft>
              <a:defRPr b="1" sz="2000">
                <a:solidFill>
                  <a:srgbClr val="E74C3C"/>
                </a:solidFill>
              </a:defRPr>
            </a:pPr>
            <a:r>
              <a:t>DELETE — DELETE /reviews/{id} (with X-API-Key)</a:t>
            </a:r>
          </a:p>
          <a:p>
            <a:pPr algn="l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 Returns 204 No Content; also triggers average rating recalculation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Analytics: 5 Aggregation Endpoints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5720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SQLAlchemy Features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Returns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/analytics/top-rated-tracks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func.avg, func.count, group_by, having, outerjoin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Ranked tracks with review 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/analytics/genre-summary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func.count, func.avg, outerjoin, group_by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Track count and avg rating per genre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/analytics/top-tags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func.count, group_by, order_by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Most frequently used 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/analytics/mood-distribution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func.count, group_by, filter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Track count per mood category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/analytics/review-activity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func.count, func.avg, group_by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Per-reviewer stats and totals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3891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</a:t>
            </a:r>
          </a:p>
          <a:p>
            <a:pPr algn="l">
              <a:spcAft>
                <a:spcPts val="800"/>
              </a:spcAft>
              <a:defRPr b="1" sz="1800">
                <a:solidFill>
                  <a:srgbClr val="E67E22"/>
                </a:solidFill>
              </a:defRPr>
            </a:pPr>
            <a:r>
              <a:t>Key Insight:</a:t>
            </a:r>
          </a:p>
          <a:p>
            <a:pPr algn="l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These endpoints demonstrate advanced SQL aggregation through SQLAlchemy ORM,</a:t>
            </a:r>
          </a:p>
          <a:p>
            <a:pPr algn="l"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elevating the project beyond basic CRUD to provide real analytical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Testing: 55 Automated Tests, 9 Test Classes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97280"/>
                <a:gridCol w="667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Test Class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Coverage Area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TestGeneralEndpoints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Root and health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TestGenreEndpoints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Genre listing and lookup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TestTrackEndpoints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Track browsing, filtering, pagination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TestReviewCRUD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Full review lifecycle + error cases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TestTagEndpoints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Tag CRUD + duplicate/invalid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TestCollectionEndpoints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Collection management + item operations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TestAnalyticsEndpoints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All 5 analytics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TestAuthentication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API key validation (401, 403, public access)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TestValidation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Input validation edge cases + structured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669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b="0" sz="1600">
                <a:solidFill>
                  <a:srgbClr val="27AE60"/>
                </a:solidFill>
              </a:defRPr>
            </a:pPr>
            <a:r>
              <a:t>All 55 tests pass in under 1 second using pytest with session-scoped TestClient fixture.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Version Control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b="1" sz="2200">
                <a:solidFill>
                  <a:srgbClr val="2E86C1"/>
                </a:solidFill>
              </a:defRPr>
            </a:pPr>
            <a:r>
              <a:t>GitHub Repository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Public repository: github.com/15934396020/music-appreciation-api-coursework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Live deployment: weidademiaoxiao.pythonanywhere.com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Consistent commit history showing incremental development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Clean branch structure (main branch)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</a:t>
            </a:r>
          </a:p>
          <a:p>
            <a:pPr algn="l">
              <a:spcAft>
                <a:spcPts val="800"/>
              </a:spcAft>
              <a:defRPr b="1" sz="2200">
                <a:solidFill>
                  <a:srgbClr val="2E86C1"/>
                </a:solidFill>
              </a:defRPr>
            </a:pPr>
            <a:r>
              <a:t>Deliverables Checklist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Technical Report (PDF) — 5 pages covering design, implementation, testing, GenAI declaration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API Documentation (PDF) — Complete endpoint reference with examples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Presentation Slides (PPTX) — This presentation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GenAI Conversation Log — Detailed AI usage documentation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README.md — Setup instructions, endpoint overview, project structure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</a:t>
            </a:r>
          </a:p>
          <a:p>
            <a:pPr algn="l">
              <a:spcAft>
                <a:spcPts val="800"/>
              </a:spcAft>
              <a:defRPr b="1" sz="2200">
                <a:solidFill>
                  <a:srgbClr val="2E86C1"/>
                </a:solidFill>
              </a:defRPr>
            </a:pPr>
            <a:r>
              <a:t>Multi-Account Handover Protocol</a:t>
            </a:r>
          </a:p>
          <a:p>
            <a:pPr algn="l"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Structured handover documents enabling seamless AI-assisted development across sessions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b="1" sz="2200">
                <a:solidFill>
                  <a:srgbClr val="27AE60"/>
                </a:solidFill>
              </a:defRPr>
            </a:pPr>
            <a:r>
              <a:t>Strengths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Clean, modular FastAPI architecture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25 endpoints with full CRUD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API key authentication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Structured error handling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55 passing automated tests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5 analytics endpoints with SQL aggregation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Comprehensive documentation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Live external deployment on PythonAnywhere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b="1" sz="2200">
                <a:solidFill>
                  <a:srgbClr val="E67E22"/>
                </a:solidFill>
              </a:defRPr>
            </a:pPr>
            <a:r>
              <a:t>Limitations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Single shared API key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SQLite (not production-ready)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Static seed data only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No rate limiting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No audio playback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b="1" sz="2200">
                <a:solidFill>
                  <a:srgbClr val="2E86C1"/>
                </a:solidFill>
              </a:defRPr>
            </a:pPr>
            <a:r>
              <a:t>Future Work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OAuth2/JWT per-user auth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PostgreSQL migration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Spotify/MusicBrainz integration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React frontend dashboard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Docker containerisation</a:t>
            </a:r>
          </a:p>
          <a:p>
            <a:pPr algn="l"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Rate limiting &amp; caching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477A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